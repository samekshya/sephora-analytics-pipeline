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191B0C-0622-4804-915F-C7859B27B401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BC5CE-75E5-4C05-A9B2-63AD15BFD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409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0:40 - Introduce the complete pipeline and emphasize that every number in the deck is measured from live runs.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BC5CE-75E5-4C05-A9B2-63AD15BFD51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0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0:50 - Explain the measured dedup key, two standardizations, and why cleaning does not drop columns.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BC5CE-75E5-4C05-A9B2-63AD15BFD51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937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1:05 - Walk left to right. Stress raw traceability, 3NF correctness, staging convenience, and the separate warehouse.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BC5CE-75E5-4C05-A9B2-63AD15BFD51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3002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1:10 - Defend the junk dimension with measured author variability. Explain that plausible-looking wrong joins are more dangerous than visible failures.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BC5CE-75E5-4C05-A9B2-63AD15BFD51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453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1:05 - Explain the five module boundaries, row accounting identity, quality severities, and the three honest mode names.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BC5CE-75E5-4C05-A9B2-63AD15BFD51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579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1:10 - Point to task states and durations. Historical was idempotent; incremental restored the controlled 2023 slice; all staging tables ended empty.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BC5CE-75E5-4C05-A9B2-63AD15BFD51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95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1:25 - Present the price curve as the headline. Then explain hype, partial-month labelling, weak skin signals, and SQL-backed controls.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BC5CE-75E5-4C05-A9B2-63AD15BFD51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104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0:35 - Close with the exact verified totals and give the four-step live demo route.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BC5CE-75E5-4C05-A9B2-63AD15BFD51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277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D4D04-804E-2CF4-2025-56C56B4DB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810544-79E1-AEC7-3D5F-60F59CE02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3847F-0335-00AC-BE80-4F864C2C8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593-2D68-4F03-83C6-F7C1D71420A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2D747-5538-8D79-FB52-CEFABEADA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DC60A-4A3D-15FF-79F4-BED24C1D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5E341-F11A-4C35-B013-318E79CB0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382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A071A-105F-DBE4-40F9-0214FEA18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F5BB1-F86D-BCC8-8550-C1709BE87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057AB-E77A-DC59-1300-B9BFD2A6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593-2D68-4F03-83C6-F7C1D71420A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4F1D1-7984-488C-72FC-8C6F6BC79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5028D-E3A4-DFBD-229A-462715E39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5E341-F11A-4C35-B013-318E79CB0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828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68D08-20F4-F1F6-AD21-AD21C89F8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28A84-692C-056B-8DD6-E4CCB9B9E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21878-1ABB-C884-42A0-CDDA47308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593-2D68-4F03-83C6-F7C1D71420A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28F5E-4B6B-0878-8C8F-518B86A41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81A2F-DCF4-76DA-F858-A947346B9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5E341-F11A-4C35-B013-318E79CB0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7889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C76AA-F980-B1C4-B637-FD7B75FEB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7CF28-B6D6-EAAD-D9FD-D98EF33E0D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0161E-883D-69F2-11FD-6E5D94EC0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60621-5B16-5928-5036-0FA226E80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593-2D68-4F03-83C6-F7C1D71420A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0EBF0-F3BD-1936-B0CD-84AF7CD23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6CBE7-2C86-FBFA-659E-BA537160F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5E341-F11A-4C35-B013-318E79CB0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9714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F40F-8081-A255-3087-7F2BA8098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1A7A8-558C-7D17-FBD3-49C7B013D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8E1BB-0E94-4C59-6453-33D28AE25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230E53-A25D-2AE1-6C33-B7B107A65E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8371E4-BE94-F528-3369-40BB33FC82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5DCDAB-F4B0-5116-6A4B-F7619D925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593-2D68-4F03-83C6-F7C1D71420A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579A1-ECC7-BA28-7283-19A2A2B5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581B3C-10FA-4193-1F32-94C5EFE45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5E341-F11A-4C35-B013-318E79CB0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4793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8B39E-E5FA-DE15-EC8C-6A7A54DBF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8A82B3-610A-D69A-573D-9AA690D4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593-2D68-4F03-83C6-F7C1D71420A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D564F-DB5C-D704-470C-03B299309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8B9F04-8A52-6E42-3378-6BC74A05A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5E341-F11A-4C35-B013-318E79CB0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488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E99BF0-4B6C-B4EF-DEF5-84CDA314B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593-2D68-4F03-83C6-F7C1D71420A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229962-A192-636C-F5D1-EADF7903B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F0152-4CA0-35DD-666A-2EDE091B9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5E341-F11A-4C35-B013-318E79CB0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9274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D5E41-FBCD-A4A5-CB68-398411C4D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50BA7-2D44-F1E5-7B9F-B24C9209A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F7F67-1D0A-19E2-BC67-0F3E4247F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C2099-51BB-606D-1855-26B195274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593-2D68-4F03-83C6-F7C1D71420A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6E939-7669-8701-293B-59AF08A99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0CA82-C502-842C-FAB6-71BDCAE74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5E341-F11A-4C35-B013-318E79CB0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924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EB9E0-71C9-04B7-AE66-F2DCE9DD0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185116-BA84-F477-20C3-BF87D133D1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15DE9F-B1C6-4ECA-DA4C-E2C3F3BA0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21C8E-BAC8-E565-B56D-2B421B1F2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593-2D68-4F03-83C6-F7C1D71420A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8C451-12C2-9583-0908-FB979671E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5BBA5-F610-2C24-041B-738FBB37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5E341-F11A-4C35-B013-318E79CB0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263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C2901-EDA0-9D5C-1957-64624B4BA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67EA2-ADFD-F22F-8E59-EDCC463E92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71FE7-838E-C27F-482C-455776360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593-2D68-4F03-83C6-F7C1D71420A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45CB4-C78A-4F2D-F28A-C43F38424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A5E47-363E-E38E-05F6-B6CEDC7C6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5E341-F11A-4C35-B013-318E79CB0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0126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89B249-10E5-CD81-DAEC-18DFC543DF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47C90-064D-4049-61AC-E9E4D4B5C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69E83-5063-63E9-F873-046CB1ED2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593-2D68-4F03-83C6-F7C1D71420A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FCA14-F475-2315-FD81-E6FF766AE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97C70-7A4B-E9E7-FACB-49A251866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5E341-F11A-4C35-B013-318E79CB0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91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9EF6E2-432C-C6A7-8774-8A9CC1DF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883E9-2886-C1E8-5313-A2E2229E7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112FB-4388-6322-B19F-447ED320E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18593-2D68-4F03-83C6-F7C1D71420A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A1C4C-B912-C7E1-B647-48948DA06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D2105-7BF3-434E-23F4-9391ED9B6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05E341-F11A-4C35-B013-318E79CB0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8665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C0246D-04BE-AFC3-AF6F-F4FCFB94CBE6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41CB70-6441-6DEF-C3BF-BD380E1CEBFB}"/>
              </a:ext>
            </a:extLst>
          </p:cNvPr>
          <p:cNvSpPr txBox="1"/>
          <p:nvPr/>
        </p:nvSpPr>
        <p:spPr>
          <a:xfrm>
            <a:off x="787400" y="6985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100" b="1">
                <a:solidFill>
                  <a:srgbClr val="FF4B4B"/>
                </a:solidFill>
                <a:latin typeface="Aptos" panose="020B0004020202020204" pitchFamily="34" charset="0"/>
              </a:rPr>
              <a:t>DATA ENGINEERING CAPSTONE |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EE8C8-0EB4-2A28-7D12-7C2AE8465B95}"/>
              </a:ext>
            </a:extLst>
          </p:cNvPr>
          <p:cNvSpPr txBox="1"/>
          <p:nvPr/>
        </p:nvSpPr>
        <p:spPr>
          <a:xfrm>
            <a:off x="787400" y="1270000"/>
            <a:ext cx="96520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3900" b="1">
                <a:solidFill>
                  <a:srgbClr val="F7F8FA"/>
                </a:solidFill>
                <a:latin typeface="Aptos Display" panose="020B0004020202020204" pitchFamily="34" charset="0"/>
              </a:rPr>
              <a:t>Sephora Reviews
Analytics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143DE7-62A6-E62C-CFB5-ECC5CDE24225}"/>
              </a:ext>
            </a:extLst>
          </p:cNvPr>
          <p:cNvSpPr txBox="1"/>
          <p:nvPr/>
        </p:nvSpPr>
        <p:spPr>
          <a:xfrm>
            <a:off x="787400" y="27432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>
                <a:solidFill>
                  <a:srgbClr val="AEB8C7"/>
                </a:solidFill>
                <a:latin typeface="Aptos" panose="020B0004020202020204" pitchFamily="34" charset="0"/>
              </a:rPr>
              <a:t>Raw CSVs -&gt; clean data -&gt; 3NF OLTP -&gt; star schema -&gt; Airflow -&gt; live Streamlit</a:t>
            </a:r>
            <a:endParaRPr lang="en-GB" sz="1700">
              <a:solidFill>
                <a:srgbClr val="AEB8C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D4C215-B5E2-EE7A-DB3B-4C2808F78735}"/>
              </a:ext>
            </a:extLst>
          </p:cNvPr>
          <p:cNvSpPr/>
          <p:nvPr/>
        </p:nvSpPr>
        <p:spPr>
          <a:xfrm>
            <a:off x="787400" y="4318000"/>
            <a:ext cx="1968500" cy="9906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3701F8-6975-06F0-85FC-3A897527AF3D}"/>
              </a:ext>
            </a:extLst>
          </p:cNvPr>
          <p:cNvSpPr txBox="1"/>
          <p:nvPr/>
        </p:nvSpPr>
        <p:spPr>
          <a:xfrm>
            <a:off x="939800" y="4398834"/>
            <a:ext cx="1663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GB" sz="2400" b="1">
                <a:solidFill>
                  <a:srgbClr val="FF4B4B"/>
                </a:solidFill>
                <a:latin typeface="Aptos Display" panose="020B0004020202020204" pitchFamily="34" charset="0"/>
              </a:rPr>
              <a:t>1.09M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D35FCD-72CC-7E37-89DA-550A243F5202}"/>
              </a:ext>
            </a:extLst>
          </p:cNvPr>
          <p:cNvSpPr txBox="1"/>
          <p:nvPr/>
        </p:nvSpPr>
        <p:spPr>
          <a:xfrm>
            <a:off x="889000" y="4940300"/>
            <a:ext cx="17653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000">
                <a:solidFill>
                  <a:srgbClr val="AEB8C7"/>
                </a:solidFill>
                <a:latin typeface="Aptos" panose="020B0004020202020204" pitchFamily="34" charset="0"/>
              </a:rPr>
              <a:t>warehouse facts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E08ED07-10BB-F6EA-1ADD-E171D1FE5158}"/>
              </a:ext>
            </a:extLst>
          </p:cNvPr>
          <p:cNvSpPr/>
          <p:nvPr/>
        </p:nvSpPr>
        <p:spPr>
          <a:xfrm>
            <a:off x="2921000" y="4318000"/>
            <a:ext cx="1968500" cy="9906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D7E41F-94AD-D01E-41EC-9DAD4438FA46}"/>
              </a:ext>
            </a:extLst>
          </p:cNvPr>
          <p:cNvSpPr txBox="1"/>
          <p:nvPr/>
        </p:nvSpPr>
        <p:spPr>
          <a:xfrm>
            <a:off x="3073400" y="4398834"/>
            <a:ext cx="1663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GB" sz="2400" b="1">
                <a:solidFill>
                  <a:srgbClr val="5FC3FF"/>
                </a:solidFill>
                <a:latin typeface="Aptos Display" panose="020B0004020202020204" pitchFamily="34" charset="0"/>
              </a:rPr>
              <a:t>16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43CAAD-515C-3F4F-9683-B943956E5699}"/>
              </a:ext>
            </a:extLst>
          </p:cNvPr>
          <p:cNvSpPr txBox="1"/>
          <p:nvPr/>
        </p:nvSpPr>
        <p:spPr>
          <a:xfrm>
            <a:off x="3022600" y="4940300"/>
            <a:ext cx="17653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000">
                <a:solidFill>
                  <a:srgbClr val="AEB8C7"/>
                </a:solidFill>
                <a:latin typeface="Aptos" panose="020B0004020202020204" pitchFamily="34" charset="0"/>
              </a:rPr>
              <a:t>Airflow tasks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867E0E-A6D6-96D2-E3EE-B1A8CD611A30}"/>
              </a:ext>
            </a:extLst>
          </p:cNvPr>
          <p:cNvSpPr/>
          <p:nvPr/>
        </p:nvSpPr>
        <p:spPr>
          <a:xfrm>
            <a:off x="5054600" y="4318000"/>
            <a:ext cx="1968500" cy="9906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384634-9E49-1567-7B84-500C39508718}"/>
              </a:ext>
            </a:extLst>
          </p:cNvPr>
          <p:cNvSpPr txBox="1"/>
          <p:nvPr/>
        </p:nvSpPr>
        <p:spPr>
          <a:xfrm>
            <a:off x="5207000" y="4398834"/>
            <a:ext cx="1663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GB" sz="2400" b="1">
                <a:solidFill>
                  <a:srgbClr val="FFD166"/>
                </a:solidFill>
                <a:latin typeface="Aptos Display" panose="020B0004020202020204" pitchFamily="34" charset="0"/>
              </a:rPr>
              <a:t>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3C5EE2-35B3-8D23-8C17-8340EE2973FB}"/>
              </a:ext>
            </a:extLst>
          </p:cNvPr>
          <p:cNvSpPr txBox="1"/>
          <p:nvPr/>
        </p:nvSpPr>
        <p:spPr>
          <a:xfrm>
            <a:off x="5156200" y="4940300"/>
            <a:ext cx="17653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000">
                <a:solidFill>
                  <a:srgbClr val="AEB8C7"/>
                </a:solidFill>
                <a:latin typeface="Aptos" panose="020B0004020202020204" pitchFamily="34" charset="0"/>
              </a:rPr>
              <a:t>analytics views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F0C9D9-690F-EB65-A6DD-FAFF733BBFF1}"/>
              </a:ext>
            </a:extLst>
          </p:cNvPr>
          <p:cNvSpPr/>
          <p:nvPr/>
        </p:nvSpPr>
        <p:spPr>
          <a:xfrm>
            <a:off x="7188200" y="4318000"/>
            <a:ext cx="1968500" cy="9906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F09704-D07E-C325-22EA-BD15DB44B563}"/>
              </a:ext>
            </a:extLst>
          </p:cNvPr>
          <p:cNvSpPr txBox="1"/>
          <p:nvPr/>
        </p:nvSpPr>
        <p:spPr>
          <a:xfrm>
            <a:off x="7340600" y="4398834"/>
            <a:ext cx="1663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GB" sz="2400" b="1">
                <a:solidFill>
                  <a:srgbClr val="2DC26B"/>
                </a:solidFill>
                <a:latin typeface="Aptos Display" panose="020B0004020202020204" pitchFamily="34" charset="0"/>
              </a:rPr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E4275D-6F2A-493D-9A4F-4993320FA0E1}"/>
              </a:ext>
            </a:extLst>
          </p:cNvPr>
          <p:cNvSpPr txBox="1"/>
          <p:nvPr/>
        </p:nvSpPr>
        <p:spPr>
          <a:xfrm>
            <a:off x="7289800" y="4940300"/>
            <a:ext cx="17653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000">
                <a:solidFill>
                  <a:srgbClr val="AEB8C7"/>
                </a:solidFill>
                <a:latin typeface="Aptos" panose="020B0004020202020204" pitchFamily="34" charset="0"/>
              </a:rPr>
              <a:t>passing tests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48173F-E5D4-34A1-E14E-EA8740C74A01}"/>
              </a:ext>
            </a:extLst>
          </p:cNvPr>
          <p:cNvSpPr txBox="1"/>
          <p:nvPr/>
        </p:nvSpPr>
        <p:spPr>
          <a:xfrm>
            <a:off x="787400" y="59563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100">
                <a:solidFill>
                  <a:srgbClr val="AEB8C7"/>
                </a:solidFill>
                <a:latin typeface="Aptos" panose="020B0004020202020204" pitchFamily="34" charset="0"/>
              </a:rPr>
              <a:t>Samekshya Baniya | PostgreSQL | Python | Airflow | Streamlit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4DFDEE-EE22-FAD8-7DDD-1AE8A90C4F28}"/>
              </a:ext>
            </a:extLst>
          </p:cNvPr>
          <p:cNvSpPr txBox="1"/>
          <p:nvPr/>
        </p:nvSpPr>
        <p:spPr>
          <a:xfrm>
            <a:off x="11239500" y="6451600"/>
            <a:ext cx="381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850" b="1">
                <a:solidFill>
                  <a:srgbClr val="AEB8C7"/>
                </a:solidFill>
                <a:latin typeface="Aptos" panose="020B00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04255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9B0F18-960D-4990-A8D3-5317B6649271}"/>
              </a:ext>
            </a:extLst>
          </p:cNvPr>
          <p:cNvSpPr txBox="1"/>
          <p:nvPr/>
        </p:nvSpPr>
        <p:spPr>
          <a:xfrm>
            <a:off x="558800" y="279400"/>
            <a:ext cx="10922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950" b="1">
                <a:solidFill>
                  <a:srgbClr val="FF4B4B"/>
                </a:solidFill>
                <a:latin typeface="Aptos" panose="020B0004020202020204" pitchFamily="34" charset="0"/>
              </a:rPr>
              <a:t>01 | EXPLORE AND CLEAN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DDEC26-523A-8CE0-F374-81468E207409}"/>
              </a:ext>
            </a:extLst>
          </p:cNvPr>
          <p:cNvSpPr txBox="1"/>
          <p:nvPr/>
        </p:nvSpPr>
        <p:spPr>
          <a:xfrm>
            <a:off x="558800" y="5842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700" b="1">
                <a:solidFill>
                  <a:srgbClr val="F7F8FA"/>
                </a:solidFill>
                <a:latin typeface="Aptos Display" panose="020B0004020202020204" pitchFamily="34" charset="0"/>
              </a:rPr>
              <a:t>Source data first; rules second</a:t>
            </a:r>
            <a:endParaRPr lang="en-GB" sz="2700" b="1">
              <a:solidFill>
                <a:srgbClr val="F7F8FA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E04864-5E6A-93AC-F3A5-46E721672C52}"/>
              </a:ext>
            </a:extLst>
          </p:cNvPr>
          <p:cNvSpPr/>
          <p:nvPr/>
        </p:nvSpPr>
        <p:spPr>
          <a:xfrm>
            <a:off x="558800" y="1219200"/>
            <a:ext cx="914400" cy="381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CD8B0C-DA2D-1306-851E-36A442BC9973}"/>
              </a:ext>
            </a:extLst>
          </p:cNvPr>
          <p:cNvSpPr txBox="1"/>
          <p:nvPr/>
        </p:nvSpPr>
        <p:spPr>
          <a:xfrm>
            <a:off x="558800" y="6527800"/>
            <a:ext cx="7620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850">
                <a:solidFill>
                  <a:srgbClr val="AEB8C7"/>
                </a:solidFill>
                <a:latin typeface="Aptos" panose="020B0004020202020204" pitchFamily="34" charset="0"/>
              </a:rPr>
              <a:t>Sephora Reviews Analytics Pipeline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DC6837-38E8-3442-F81E-86530C486721}"/>
              </a:ext>
            </a:extLst>
          </p:cNvPr>
          <p:cNvSpPr txBox="1"/>
          <p:nvPr/>
        </p:nvSpPr>
        <p:spPr>
          <a:xfrm>
            <a:off x="11430000" y="6527800"/>
            <a:ext cx="254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850" b="1">
                <a:solidFill>
                  <a:srgbClr val="AEB8C7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6A1C4-C582-2DF4-B22E-2EF08E624E52}"/>
              </a:ext>
            </a:extLst>
          </p:cNvPr>
          <p:cNvSpPr txBox="1"/>
          <p:nvPr/>
        </p:nvSpPr>
        <p:spPr>
          <a:xfrm>
            <a:off x="558800" y="1422400"/>
            <a:ext cx="11074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AEB8C7"/>
                </a:solidFill>
                <a:latin typeface="Aptos" panose="020B0004020202020204" pitchFamily="34" charset="0"/>
              </a:rPr>
              <a:t>The catalogue and review stream arrive at different grains, so profiling drives the cleaning contract.</a:t>
            </a:r>
            <a:endParaRPr lang="en-GB" sz="1300">
              <a:solidFill>
                <a:srgbClr val="AEB8C7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FB72D69-569D-7E4B-15BF-E89DE448AF40}"/>
              </a:ext>
            </a:extLst>
          </p:cNvPr>
          <p:cNvSpPr/>
          <p:nvPr/>
        </p:nvSpPr>
        <p:spPr>
          <a:xfrm>
            <a:off x="558800" y="2082800"/>
            <a:ext cx="2082800" cy="9906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66A375-D24E-D533-ACC8-1032F5D43C21}"/>
              </a:ext>
            </a:extLst>
          </p:cNvPr>
          <p:cNvSpPr txBox="1"/>
          <p:nvPr/>
        </p:nvSpPr>
        <p:spPr>
          <a:xfrm>
            <a:off x="711200" y="2163634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GB" sz="2400" b="1">
                <a:solidFill>
                  <a:srgbClr val="FF4B4B"/>
                </a:solidFill>
                <a:latin typeface="Aptos Display" panose="020B0004020202020204" pitchFamily="34" charset="0"/>
              </a:rPr>
              <a:t>1,094,411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D5D624-7BE9-F4DA-F0EF-76FD4C594978}"/>
              </a:ext>
            </a:extLst>
          </p:cNvPr>
          <p:cNvSpPr txBox="1"/>
          <p:nvPr/>
        </p:nvSpPr>
        <p:spPr>
          <a:xfrm>
            <a:off x="660400" y="2705100"/>
            <a:ext cx="1879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000">
                <a:solidFill>
                  <a:srgbClr val="AEB8C7"/>
                </a:solidFill>
                <a:latin typeface="Aptos" panose="020B0004020202020204" pitchFamily="34" charset="0"/>
              </a:rPr>
              <a:t>raw reviews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F1E9351-1E09-BCCC-EFBD-EA670BCF0FB9}"/>
              </a:ext>
            </a:extLst>
          </p:cNvPr>
          <p:cNvSpPr/>
          <p:nvPr/>
        </p:nvSpPr>
        <p:spPr>
          <a:xfrm>
            <a:off x="2794000" y="2082800"/>
            <a:ext cx="2082800" cy="9906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710041-4A38-9A7F-622C-1F6817A50B9A}"/>
              </a:ext>
            </a:extLst>
          </p:cNvPr>
          <p:cNvSpPr txBox="1"/>
          <p:nvPr/>
        </p:nvSpPr>
        <p:spPr>
          <a:xfrm>
            <a:off x="2946400" y="2163634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GB" sz="2400" b="1">
                <a:solidFill>
                  <a:srgbClr val="5FC3FF"/>
                </a:solidFill>
                <a:latin typeface="Aptos Display" panose="020B0004020202020204" pitchFamily="34" charset="0"/>
              </a:rPr>
              <a:t>8,494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F3F408-5C18-C12D-F9D9-D2BFBEA945BA}"/>
              </a:ext>
            </a:extLst>
          </p:cNvPr>
          <p:cNvSpPr txBox="1"/>
          <p:nvPr/>
        </p:nvSpPr>
        <p:spPr>
          <a:xfrm>
            <a:off x="2895600" y="2705100"/>
            <a:ext cx="1879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000">
                <a:solidFill>
                  <a:srgbClr val="AEB8C7"/>
                </a:solidFill>
                <a:latin typeface="Aptos" panose="020B0004020202020204" pitchFamily="34" charset="0"/>
              </a:rPr>
              <a:t>catalogue products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A08B27C-4F2A-117E-5568-5B2D290C5223}"/>
              </a:ext>
            </a:extLst>
          </p:cNvPr>
          <p:cNvSpPr/>
          <p:nvPr/>
        </p:nvSpPr>
        <p:spPr>
          <a:xfrm>
            <a:off x="5029200" y="2082800"/>
            <a:ext cx="2082800" cy="9906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7180F6-F709-526D-5BD5-F6A664EA7D7E}"/>
              </a:ext>
            </a:extLst>
          </p:cNvPr>
          <p:cNvSpPr txBox="1"/>
          <p:nvPr/>
        </p:nvSpPr>
        <p:spPr>
          <a:xfrm>
            <a:off x="5181600" y="2163634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GB" sz="2400" b="1">
                <a:solidFill>
                  <a:srgbClr val="FFD166"/>
                </a:solidFill>
                <a:latin typeface="Aptos Display" panose="020B0004020202020204" pitchFamily="34" charset="0"/>
              </a:rPr>
              <a:t>503,216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1CEB6F-CE77-A805-48C2-9E4E7CB679A1}"/>
              </a:ext>
            </a:extLst>
          </p:cNvPr>
          <p:cNvSpPr txBox="1"/>
          <p:nvPr/>
        </p:nvSpPr>
        <p:spPr>
          <a:xfrm>
            <a:off x="5130800" y="2705100"/>
            <a:ext cx="1879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000">
                <a:solidFill>
                  <a:srgbClr val="AEB8C7"/>
                </a:solidFill>
                <a:latin typeface="Aptos" panose="020B0004020202020204" pitchFamily="34" charset="0"/>
              </a:rPr>
              <a:t>review authors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0141443-C14E-022E-13B7-6B2F31E94A8F}"/>
              </a:ext>
            </a:extLst>
          </p:cNvPr>
          <p:cNvSpPr/>
          <p:nvPr/>
        </p:nvSpPr>
        <p:spPr>
          <a:xfrm>
            <a:off x="7264400" y="2082800"/>
            <a:ext cx="2082800" cy="9906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07CBA0-29AA-E329-118F-8F337E8E913E}"/>
              </a:ext>
            </a:extLst>
          </p:cNvPr>
          <p:cNvSpPr txBox="1"/>
          <p:nvPr/>
        </p:nvSpPr>
        <p:spPr>
          <a:xfrm>
            <a:off x="7416800" y="2163634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GB" sz="2400" b="1">
                <a:solidFill>
                  <a:srgbClr val="2DC26B"/>
                </a:solidFill>
                <a:latin typeface="Aptos Display" panose="020B0004020202020204" pitchFamily="34" charset="0"/>
              </a:rPr>
              <a:t>304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FA4605-D400-D524-A99D-AAD7919ED776}"/>
              </a:ext>
            </a:extLst>
          </p:cNvPr>
          <p:cNvSpPr txBox="1"/>
          <p:nvPr/>
        </p:nvSpPr>
        <p:spPr>
          <a:xfrm>
            <a:off x="7366000" y="2705100"/>
            <a:ext cx="1879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000">
                <a:solidFill>
                  <a:srgbClr val="AEB8C7"/>
                </a:solidFill>
                <a:latin typeface="Aptos" panose="020B0004020202020204" pitchFamily="34" charset="0"/>
              </a:rPr>
              <a:t>brands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C342E6-035D-F7FE-247F-1205319C340F}"/>
              </a:ext>
            </a:extLst>
          </p:cNvPr>
          <p:cNvSpPr/>
          <p:nvPr/>
        </p:nvSpPr>
        <p:spPr>
          <a:xfrm>
            <a:off x="9499600" y="2082800"/>
            <a:ext cx="2133600" cy="9906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CE6948-BC14-53ED-6890-3D24B84EE2B5}"/>
              </a:ext>
            </a:extLst>
          </p:cNvPr>
          <p:cNvSpPr txBox="1"/>
          <p:nvPr/>
        </p:nvSpPr>
        <p:spPr>
          <a:xfrm>
            <a:off x="9652000" y="2163634"/>
            <a:ext cx="182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GB" sz="2400" b="1">
                <a:solidFill>
                  <a:srgbClr val="FF4B4B"/>
                </a:solidFill>
                <a:latin typeface="Aptos Display" panose="020B0004020202020204" pitchFamily="34" charset="0"/>
              </a:rPr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6B503A-8840-0E08-ADAE-64DC6EBB5080}"/>
              </a:ext>
            </a:extLst>
          </p:cNvPr>
          <p:cNvSpPr txBox="1"/>
          <p:nvPr/>
        </p:nvSpPr>
        <p:spPr>
          <a:xfrm>
            <a:off x="9601200" y="2705100"/>
            <a:ext cx="1930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000">
                <a:solidFill>
                  <a:srgbClr val="AEB8C7"/>
                </a:solidFill>
                <a:latin typeface="Aptos" panose="020B0004020202020204" pitchFamily="34" charset="0"/>
              </a:rPr>
              <a:t>profiling checks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7E2E160-2C6A-E96C-E62A-D8C15284EE61}"/>
              </a:ext>
            </a:extLst>
          </p:cNvPr>
          <p:cNvSpPr/>
          <p:nvPr/>
        </p:nvSpPr>
        <p:spPr>
          <a:xfrm>
            <a:off x="558800" y="3429000"/>
            <a:ext cx="3530600" cy="20828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0CB69A-3B8A-1DA0-F91D-492526F34AA0}"/>
              </a:ext>
            </a:extLst>
          </p:cNvPr>
          <p:cNvSpPr/>
          <p:nvPr/>
        </p:nvSpPr>
        <p:spPr>
          <a:xfrm>
            <a:off x="558800" y="3429000"/>
            <a:ext cx="63500" cy="20828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BAAA82-FDE1-41EE-475D-2FBC0453B216}"/>
              </a:ext>
            </a:extLst>
          </p:cNvPr>
          <p:cNvSpPr txBox="1"/>
          <p:nvPr/>
        </p:nvSpPr>
        <p:spPr>
          <a:xfrm>
            <a:off x="762000" y="3556000"/>
            <a:ext cx="3200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 b="1">
                <a:solidFill>
                  <a:srgbClr val="F7F8FA"/>
                </a:solidFill>
                <a:latin typeface="Aptos" panose="020B0004020202020204" pitchFamily="34" charset="0"/>
              </a:rPr>
              <a:t>Deduplicate at the right grain</a:t>
            </a:r>
            <a:endParaRPr lang="en-GB" sz="1300" b="1">
              <a:solidFill>
                <a:srgbClr val="F7F8FA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AA449C-A89D-53E4-381B-F7FB53B2638D}"/>
              </a:ext>
            </a:extLst>
          </p:cNvPr>
          <p:cNvSpPr txBox="1"/>
          <p:nvPr/>
        </p:nvSpPr>
        <p:spPr>
          <a:xfrm>
            <a:off x="762000" y="3886200"/>
            <a:ext cx="3200400" cy="48474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AEB8C7"/>
                </a:solidFill>
                <a:latin typeface="Aptos" panose="020B0004020202020204" pitchFamily="34" charset="0"/>
              </a:rPr>
              <a:t>Remove 1,040 rows on (author, product, date). Keep 4,485 legitimate re-reviews that a coarser key would destroy.</a:t>
            </a:r>
            <a:endParaRPr lang="en-GB" sz="1050">
              <a:solidFill>
                <a:srgbClr val="AEB8C7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C11FE67-D55A-C455-9086-F0EA8E19949C}"/>
              </a:ext>
            </a:extLst>
          </p:cNvPr>
          <p:cNvSpPr/>
          <p:nvPr/>
        </p:nvSpPr>
        <p:spPr>
          <a:xfrm>
            <a:off x="4330700" y="3429000"/>
            <a:ext cx="3530600" cy="20828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FB7688-6309-ACB8-D52C-33291DA08E8F}"/>
              </a:ext>
            </a:extLst>
          </p:cNvPr>
          <p:cNvSpPr/>
          <p:nvPr/>
        </p:nvSpPr>
        <p:spPr>
          <a:xfrm>
            <a:off x="4330700" y="3429000"/>
            <a:ext cx="63500" cy="2082800"/>
          </a:xfrm>
          <a:prstGeom prst="rect">
            <a:avLst/>
          </a:prstGeom>
          <a:solidFill>
            <a:srgbClr val="5FC3FF"/>
          </a:solidFill>
          <a:ln w="12700">
            <a:solidFill>
              <a:srgbClr val="5F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4504A8-7D8C-4060-F532-66A07BB17709}"/>
              </a:ext>
            </a:extLst>
          </p:cNvPr>
          <p:cNvSpPr txBox="1"/>
          <p:nvPr/>
        </p:nvSpPr>
        <p:spPr>
          <a:xfrm>
            <a:off x="4533900" y="3556000"/>
            <a:ext cx="3200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Standardize, do not invent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23FCE2-77CC-C6B4-6B92-13007AAF0003}"/>
              </a:ext>
            </a:extLst>
          </p:cNvPr>
          <p:cNvSpPr txBox="1"/>
          <p:nvPr/>
        </p:nvSpPr>
        <p:spPr>
          <a:xfrm>
            <a:off x="4533900" y="3886200"/>
            <a:ext cx="3200400" cy="48474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AEB8C7"/>
                </a:solidFill>
                <a:latin typeface="Aptos" panose="020B0004020202020204" pitchFamily="34" charset="0"/>
              </a:rPr>
              <a:t>Grey -&gt; gray. notSureST -&gt; Unknown at the staging boundary. Helpfulness nulls stay undefined when nobody voted.</a:t>
            </a:r>
            <a:endParaRPr lang="en-GB" sz="1050">
              <a:solidFill>
                <a:srgbClr val="AEB8C7"/>
              </a:solidFill>
              <a:latin typeface="Aptos" panose="020B000402020202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CB52C9F-4B52-B8D0-F2D8-AEC6A96863CB}"/>
              </a:ext>
            </a:extLst>
          </p:cNvPr>
          <p:cNvSpPr/>
          <p:nvPr/>
        </p:nvSpPr>
        <p:spPr>
          <a:xfrm>
            <a:off x="8102600" y="3429000"/>
            <a:ext cx="3530600" cy="20828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F4B8C7-BE41-21C3-3C20-A84A99D1A5AD}"/>
              </a:ext>
            </a:extLst>
          </p:cNvPr>
          <p:cNvSpPr/>
          <p:nvPr/>
        </p:nvSpPr>
        <p:spPr>
          <a:xfrm>
            <a:off x="8102600" y="3429000"/>
            <a:ext cx="63500" cy="2082800"/>
          </a:xfrm>
          <a:prstGeom prst="rect">
            <a:avLst/>
          </a:prstGeom>
          <a:solidFill>
            <a:srgbClr val="2DC26B"/>
          </a:solidFill>
          <a:ln w="12700">
            <a:solidFill>
              <a:srgbClr val="2DC2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110610-46D2-68CE-AAC8-044215988791}"/>
              </a:ext>
            </a:extLst>
          </p:cNvPr>
          <p:cNvSpPr txBox="1"/>
          <p:nvPr/>
        </p:nvSpPr>
        <p:spPr>
          <a:xfrm>
            <a:off x="8305800" y="3556000"/>
            <a:ext cx="3200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Keep traceability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D833E-92C6-DFF9-964A-FC184B0716EC}"/>
              </a:ext>
            </a:extLst>
          </p:cNvPr>
          <p:cNvSpPr txBox="1"/>
          <p:nvPr/>
        </p:nvSpPr>
        <p:spPr>
          <a:xfrm>
            <a:off x="8305800" y="3886200"/>
            <a:ext cx="3200400" cy="48474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AEB8C7"/>
                </a:solidFill>
                <a:latin typeface="Aptos" panose="020B0004020202020204" pitchFamily="34" charset="0"/>
              </a:rPr>
              <a:t>Cleaning drops rows, never columns. Every source column reaches raw; scope trims happen explicitly at raw -&gt; 3NF.</a:t>
            </a:r>
            <a:endParaRPr lang="en-GB" sz="1050">
              <a:solidFill>
                <a:srgbClr val="AEB8C7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3F59BA-FD69-66E2-7B39-AB3554FA0780}"/>
              </a:ext>
            </a:extLst>
          </p:cNvPr>
          <p:cNvSpPr txBox="1"/>
          <p:nvPr/>
        </p:nvSpPr>
        <p:spPr>
          <a:xfrm>
            <a:off x="558800" y="5791200"/>
            <a:ext cx="11074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300" b="1">
                <a:solidFill>
                  <a:srgbClr val="F7F8FA"/>
                </a:solidFill>
                <a:latin typeface="Aptos" panose="020B0004020202020204" pitchFamily="34" charset="0"/>
              </a:rPr>
              <a:t>Result: 1,093,371 clean reviews - exactly the population reconciled through 3NF, staging, and the warehouse.</a:t>
            </a:r>
            <a:endParaRPr lang="en-GB" sz="1300" b="1">
              <a:solidFill>
                <a:srgbClr val="F7F8F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593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2290A7-5139-10AF-F35B-53A12BFE2783}"/>
              </a:ext>
            </a:extLst>
          </p:cNvPr>
          <p:cNvSpPr txBox="1"/>
          <p:nvPr/>
        </p:nvSpPr>
        <p:spPr>
          <a:xfrm>
            <a:off x="558800" y="279400"/>
            <a:ext cx="10922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950" b="1">
                <a:solidFill>
                  <a:srgbClr val="FF4B4B"/>
                </a:solidFill>
                <a:latin typeface="Aptos" panose="020B0004020202020204" pitchFamily="34" charset="0"/>
              </a:rPr>
              <a:t>02 | END-TO-END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35D237-1B2D-ACE4-9486-D107E1AB9587}"/>
              </a:ext>
            </a:extLst>
          </p:cNvPr>
          <p:cNvSpPr txBox="1"/>
          <p:nvPr/>
        </p:nvSpPr>
        <p:spPr>
          <a:xfrm>
            <a:off x="558800" y="5842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700" b="1">
                <a:solidFill>
                  <a:srgbClr val="F7F8FA"/>
                </a:solidFill>
                <a:latin typeface="Aptos Display" panose="020B0004020202020204" pitchFamily="34" charset="0"/>
              </a:rPr>
              <a:t>A traceable path from files to decisions</a:t>
            </a:r>
            <a:endParaRPr lang="en-GB" sz="2700" b="1">
              <a:solidFill>
                <a:srgbClr val="F7F8FA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B227D5-4B53-85A0-65D9-B89103C75254}"/>
              </a:ext>
            </a:extLst>
          </p:cNvPr>
          <p:cNvSpPr/>
          <p:nvPr/>
        </p:nvSpPr>
        <p:spPr>
          <a:xfrm>
            <a:off x="558800" y="1219200"/>
            <a:ext cx="914400" cy="381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7AA5A-566F-A0FD-3E42-C4CBC95C2E9B}"/>
              </a:ext>
            </a:extLst>
          </p:cNvPr>
          <p:cNvSpPr txBox="1"/>
          <p:nvPr/>
        </p:nvSpPr>
        <p:spPr>
          <a:xfrm>
            <a:off x="558800" y="6527800"/>
            <a:ext cx="7620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850">
                <a:solidFill>
                  <a:srgbClr val="AEB8C7"/>
                </a:solidFill>
                <a:latin typeface="Aptos" panose="020B0004020202020204" pitchFamily="34" charset="0"/>
              </a:rPr>
              <a:t>Sephora Reviews Analytics Pipeline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D56C3A-930D-00F9-98F2-99EBC809DA35}"/>
              </a:ext>
            </a:extLst>
          </p:cNvPr>
          <p:cNvSpPr txBox="1"/>
          <p:nvPr/>
        </p:nvSpPr>
        <p:spPr>
          <a:xfrm>
            <a:off x="11430000" y="6527800"/>
            <a:ext cx="254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850" b="1">
                <a:solidFill>
                  <a:srgbClr val="AEB8C7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AB506C-264D-02FD-485B-060252888935}"/>
              </a:ext>
            </a:extLst>
          </p:cNvPr>
          <p:cNvSpPr txBox="1"/>
          <p:nvPr/>
        </p:nvSpPr>
        <p:spPr>
          <a:xfrm>
            <a:off x="558800" y="1397000"/>
            <a:ext cx="11074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AEB8C7"/>
                </a:solidFill>
                <a:latin typeface="Aptos" panose="020B0004020202020204" pitchFamily="34" charset="0"/>
              </a:rPr>
              <a:t>Each layer has one job; the same Python package runs locally or under Airflow.</a:t>
            </a:r>
            <a:endParaRPr lang="en-GB" sz="1300">
              <a:solidFill>
                <a:srgbClr val="AEB8C7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53EB4-B821-D6FA-D61B-7854858D0587}"/>
              </a:ext>
            </a:extLst>
          </p:cNvPr>
          <p:cNvSpPr/>
          <p:nvPr/>
        </p:nvSpPr>
        <p:spPr>
          <a:xfrm>
            <a:off x="482600" y="2235200"/>
            <a:ext cx="1498600" cy="11938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5FDF36-6713-3FE6-8571-80C5B5EB45D5}"/>
              </a:ext>
            </a:extLst>
          </p:cNvPr>
          <p:cNvSpPr/>
          <p:nvPr/>
        </p:nvSpPr>
        <p:spPr>
          <a:xfrm>
            <a:off x="482600" y="2235200"/>
            <a:ext cx="63500" cy="11938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BA594B-9E44-DAF4-BBF4-A44C8C44C520}"/>
              </a:ext>
            </a:extLst>
          </p:cNvPr>
          <p:cNvSpPr txBox="1"/>
          <p:nvPr/>
        </p:nvSpPr>
        <p:spPr>
          <a:xfrm>
            <a:off x="685800" y="2362200"/>
            <a:ext cx="1168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6 CSV files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AEE19E-0F20-0008-A080-94E389150DFE}"/>
              </a:ext>
            </a:extLst>
          </p:cNvPr>
          <p:cNvSpPr txBox="1"/>
          <p:nvPr/>
        </p:nvSpPr>
        <p:spPr>
          <a:xfrm>
            <a:off x="685800" y="2692400"/>
            <a:ext cx="1168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50">
                <a:solidFill>
                  <a:srgbClr val="AEB8C7"/>
                </a:solidFill>
                <a:latin typeface="Aptos" panose="020B0004020202020204" pitchFamily="34" charset="0"/>
              </a:rPr>
              <a:t>raw source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47656B52-C2B5-CD7F-CB57-38C33FE47F04}"/>
              </a:ext>
            </a:extLst>
          </p:cNvPr>
          <p:cNvSpPr/>
          <p:nvPr/>
        </p:nvSpPr>
        <p:spPr>
          <a:xfrm>
            <a:off x="2019300" y="2654300"/>
            <a:ext cx="279400" cy="342900"/>
          </a:xfrm>
          <a:prstGeom prst="chevron">
            <a:avLst/>
          </a:prstGeom>
          <a:solidFill>
            <a:srgbClr val="FF4B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1E61A1-0104-605B-95F6-2B60C77CF7AC}"/>
              </a:ext>
            </a:extLst>
          </p:cNvPr>
          <p:cNvSpPr/>
          <p:nvPr/>
        </p:nvSpPr>
        <p:spPr>
          <a:xfrm>
            <a:off x="2171700" y="2235200"/>
            <a:ext cx="1498600" cy="11938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2C6B10-017B-38A1-241F-A1075750B9B1}"/>
              </a:ext>
            </a:extLst>
          </p:cNvPr>
          <p:cNvSpPr/>
          <p:nvPr/>
        </p:nvSpPr>
        <p:spPr>
          <a:xfrm>
            <a:off x="2171700" y="2235200"/>
            <a:ext cx="63500" cy="11938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3A397F-D48A-32B6-5FF0-4965EDB05DDC}"/>
              </a:ext>
            </a:extLst>
          </p:cNvPr>
          <p:cNvSpPr txBox="1"/>
          <p:nvPr/>
        </p:nvSpPr>
        <p:spPr>
          <a:xfrm>
            <a:off x="2374900" y="2362200"/>
            <a:ext cx="1168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clean.py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304D5F-B49C-8517-DC77-B542F68CA39E}"/>
              </a:ext>
            </a:extLst>
          </p:cNvPr>
          <p:cNvSpPr txBox="1"/>
          <p:nvPr/>
        </p:nvSpPr>
        <p:spPr>
          <a:xfrm>
            <a:off x="2374900" y="2692400"/>
            <a:ext cx="11684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50">
                <a:solidFill>
                  <a:srgbClr val="AEB8C7"/>
                </a:solidFill>
                <a:latin typeface="Aptos" panose="020B0004020202020204" pitchFamily="34" charset="0"/>
              </a:rPr>
              <a:t>standardize + dedup</a:t>
            </a: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18DEBD24-CEEE-FCE5-D659-4C39AD395401}"/>
              </a:ext>
            </a:extLst>
          </p:cNvPr>
          <p:cNvSpPr/>
          <p:nvPr/>
        </p:nvSpPr>
        <p:spPr>
          <a:xfrm>
            <a:off x="3708400" y="2654300"/>
            <a:ext cx="279400" cy="342900"/>
          </a:xfrm>
          <a:prstGeom prst="chevron">
            <a:avLst/>
          </a:prstGeom>
          <a:solidFill>
            <a:srgbClr val="FF4B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EBBCB69-3E51-E9CD-1B73-4A347CA5AC2B}"/>
              </a:ext>
            </a:extLst>
          </p:cNvPr>
          <p:cNvSpPr/>
          <p:nvPr/>
        </p:nvSpPr>
        <p:spPr>
          <a:xfrm>
            <a:off x="3860800" y="2235200"/>
            <a:ext cx="1498600" cy="11938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FAA11C-E2F5-0461-EC1F-BAF2D6C8926B}"/>
              </a:ext>
            </a:extLst>
          </p:cNvPr>
          <p:cNvSpPr/>
          <p:nvPr/>
        </p:nvSpPr>
        <p:spPr>
          <a:xfrm>
            <a:off x="3860800" y="2235200"/>
            <a:ext cx="63500" cy="1193800"/>
          </a:xfrm>
          <a:prstGeom prst="rect">
            <a:avLst/>
          </a:prstGeom>
          <a:solidFill>
            <a:srgbClr val="5FC3FF"/>
          </a:solidFill>
          <a:ln w="12700">
            <a:solidFill>
              <a:srgbClr val="5F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F81B28-9ED3-458A-CB29-2F35DA7A7C07}"/>
              </a:ext>
            </a:extLst>
          </p:cNvPr>
          <p:cNvSpPr txBox="1"/>
          <p:nvPr/>
        </p:nvSpPr>
        <p:spPr>
          <a:xfrm>
            <a:off x="4064000" y="2362200"/>
            <a:ext cx="1168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raw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2C83E9-CE22-F5A9-47D0-B02FDB2BC9B5}"/>
              </a:ext>
            </a:extLst>
          </p:cNvPr>
          <p:cNvSpPr txBox="1"/>
          <p:nvPr/>
        </p:nvSpPr>
        <p:spPr>
          <a:xfrm>
            <a:off x="4064000" y="2692400"/>
            <a:ext cx="1168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50">
                <a:solidFill>
                  <a:srgbClr val="AEB8C7"/>
                </a:solidFill>
                <a:latin typeface="Aptos" panose="020B0004020202020204" pitchFamily="34" charset="0"/>
              </a:rPr>
              <a:t>1:1 mirror</a:t>
            </a: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38EFC695-C36A-3988-AFDE-D20F3464758E}"/>
              </a:ext>
            </a:extLst>
          </p:cNvPr>
          <p:cNvSpPr/>
          <p:nvPr/>
        </p:nvSpPr>
        <p:spPr>
          <a:xfrm>
            <a:off x="5397500" y="2654300"/>
            <a:ext cx="279400" cy="342900"/>
          </a:xfrm>
          <a:prstGeom prst="chevron">
            <a:avLst/>
          </a:prstGeom>
          <a:solidFill>
            <a:srgbClr val="FF4B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12B48B6-CF25-C6BD-19F8-EC01086AC2DB}"/>
              </a:ext>
            </a:extLst>
          </p:cNvPr>
          <p:cNvSpPr/>
          <p:nvPr/>
        </p:nvSpPr>
        <p:spPr>
          <a:xfrm>
            <a:off x="5549900" y="2235200"/>
            <a:ext cx="1498600" cy="11938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8B5F86-E625-FFDA-CC18-6B76E37C91F2}"/>
              </a:ext>
            </a:extLst>
          </p:cNvPr>
          <p:cNvSpPr/>
          <p:nvPr/>
        </p:nvSpPr>
        <p:spPr>
          <a:xfrm>
            <a:off x="5549900" y="2235200"/>
            <a:ext cx="63500" cy="1193800"/>
          </a:xfrm>
          <a:prstGeom prst="rect">
            <a:avLst/>
          </a:prstGeom>
          <a:solidFill>
            <a:srgbClr val="5FC3FF"/>
          </a:solidFill>
          <a:ln w="12700">
            <a:solidFill>
              <a:srgbClr val="5F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91E4DE-2D78-CF8A-FA51-153A13E4A5B5}"/>
              </a:ext>
            </a:extLst>
          </p:cNvPr>
          <p:cNvSpPr txBox="1"/>
          <p:nvPr/>
        </p:nvSpPr>
        <p:spPr>
          <a:xfrm>
            <a:off x="5753100" y="2362200"/>
            <a:ext cx="1168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3NF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08D48F-5A9A-BAB1-1B8D-6C7CEFDAF607}"/>
              </a:ext>
            </a:extLst>
          </p:cNvPr>
          <p:cNvSpPr txBox="1"/>
          <p:nvPr/>
        </p:nvSpPr>
        <p:spPr>
          <a:xfrm>
            <a:off x="5753100" y="2692400"/>
            <a:ext cx="1168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50">
                <a:solidFill>
                  <a:srgbClr val="AEB8C7"/>
                </a:solidFill>
                <a:latin typeface="Aptos" panose="020B0004020202020204" pitchFamily="34" charset="0"/>
              </a:rPr>
              <a:t>9 related tables</a:t>
            </a: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9C517A95-C134-3E7A-783B-1DA47A7F64C1}"/>
              </a:ext>
            </a:extLst>
          </p:cNvPr>
          <p:cNvSpPr/>
          <p:nvPr/>
        </p:nvSpPr>
        <p:spPr>
          <a:xfrm>
            <a:off x="7086600" y="2654300"/>
            <a:ext cx="279400" cy="342900"/>
          </a:xfrm>
          <a:prstGeom prst="chevron">
            <a:avLst/>
          </a:prstGeom>
          <a:solidFill>
            <a:srgbClr val="FF4B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272E6B9-4BFE-6525-A01F-046465AE46BD}"/>
              </a:ext>
            </a:extLst>
          </p:cNvPr>
          <p:cNvSpPr/>
          <p:nvPr/>
        </p:nvSpPr>
        <p:spPr>
          <a:xfrm>
            <a:off x="7239000" y="2235200"/>
            <a:ext cx="1498600" cy="11938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657519-F449-A728-AD10-E781F267D890}"/>
              </a:ext>
            </a:extLst>
          </p:cNvPr>
          <p:cNvSpPr/>
          <p:nvPr/>
        </p:nvSpPr>
        <p:spPr>
          <a:xfrm>
            <a:off x="7239000" y="2235200"/>
            <a:ext cx="63500" cy="1193800"/>
          </a:xfrm>
          <a:prstGeom prst="rect">
            <a:avLst/>
          </a:prstGeom>
          <a:solidFill>
            <a:srgbClr val="5FC3FF"/>
          </a:solidFill>
          <a:ln w="12700">
            <a:solidFill>
              <a:srgbClr val="5F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25E2CF-17E7-ECCA-F541-99403D6D0C81}"/>
              </a:ext>
            </a:extLst>
          </p:cNvPr>
          <p:cNvSpPr txBox="1"/>
          <p:nvPr/>
        </p:nvSpPr>
        <p:spPr>
          <a:xfrm>
            <a:off x="7442200" y="2362200"/>
            <a:ext cx="1168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staging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84EE5F-06A4-7CA3-1A2A-03D7C35B0136}"/>
              </a:ext>
            </a:extLst>
          </p:cNvPr>
          <p:cNvSpPr txBox="1"/>
          <p:nvPr/>
        </p:nvSpPr>
        <p:spPr>
          <a:xfrm>
            <a:off x="7442200" y="2692400"/>
            <a:ext cx="1168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50">
                <a:solidFill>
                  <a:srgbClr val="AEB8C7"/>
                </a:solidFill>
                <a:latin typeface="Aptos" panose="020B0004020202020204" pitchFamily="34" charset="0"/>
              </a:rPr>
              <a:t>analytics-ready</a:t>
            </a:r>
          </a:p>
        </p:txBody>
      </p: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EE733AEB-D25E-026C-9374-897F9BED2B92}"/>
              </a:ext>
            </a:extLst>
          </p:cNvPr>
          <p:cNvSpPr/>
          <p:nvPr/>
        </p:nvSpPr>
        <p:spPr>
          <a:xfrm>
            <a:off x="8775700" y="2654300"/>
            <a:ext cx="279400" cy="342900"/>
          </a:xfrm>
          <a:prstGeom prst="chevron">
            <a:avLst/>
          </a:prstGeom>
          <a:solidFill>
            <a:srgbClr val="FF4B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D684F2E-5C3E-C084-E9D3-12282E3EB5F0}"/>
              </a:ext>
            </a:extLst>
          </p:cNvPr>
          <p:cNvSpPr/>
          <p:nvPr/>
        </p:nvSpPr>
        <p:spPr>
          <a:xfrm>
            <a:off x="8928100" y="2235200"/>
            <a:ext cx="1498600" cy="11938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CA5078-7EF8-08F1-1ED6-B2039E1D4ABE}"/>
              </a:ext>
            </a:extLst>
          </p:cNvPr>
          <p:cNvSpPr/>
          <p:nvPr/>
        </p:nvSpPr>
        <p:spPr>
          <a:xfrm>
            <a:off x="8928100" y="2235200"/>
            <a:ext cx="63500" cy="11938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FDC98F-ABDA-186B-50C4-EC4E6245BBD9}"/>
              </a:ext>
            </a:extLst>
          </p:cNvPr>
          <p:cNvSpPr txBox="1"/>
          <p:nvPr/>
        </p:nvSpPr>
        <p:spPr>
          <a:xfrm>
            <a:off x="9131300" y="2362200"/>
            <a:ext cx="1168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etl/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692407-5A04-D25F-22F3-70264D74A00F}"/>
              </a:ext>
            </a:extLst>
          </p:cNvPr>
          <p:cNvSpPr txBox="1"/>
          <p:nvPr/>
        </p:nvSpPr>
        <p:spPr>
          <a:xfrm>
            <a:off x="9131300" y="2692400"/>
            <a:ext cx="1168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pt-BR" sz="1050">
                <a:solidFill>
                  <a:srgbClr val="AEB8C7"/>
                </a:solidFill>
                <a:latin typeface="Aptos" panose="020B0004020202020204" pitchFamily="34" charset="0"/>
              </a:rPr>
              <a:t>E | T | R | Q | L</a:t>
            </a:r>
            <a:endParaRPr lang="en-GB" sz="1050">
              <a:solidFill>
                <a:srgbClr val="AEB8C7"/>
              </a:solidFill>
              <a:latin typeface="Aptos" panose="020B0004020202020204" pitchFamily="34" charset="0"/>
            </a:endParaRPr>
          </a:p>
        </p:txBody>
      </p:sp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D58C624D-2727-8F9D-C917-566E9CDE4C52}"/>
              </a:ext>
            </a:extLst>
          </p:cNvPr>
          <p:cNvSpPr/>
          <p:nvPr/>
        </p:nvSpPr>
        <p:spPr>
          <a:xfrm>
            <a:off x="10464800" y="2654300"/>
            <a:ext cx="279400" cy="342900"/>
          </a:xfrm>
          <a:prstGeom prst="chevron">
            <a:avLst/>
          </a:prstGeom>
          <a:solidFill>
            <a:srgbClr val="FF4B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3AD33DA-4E25-9BCE-4FF2-EB0BF072BA0C}"/>
              </a:ext>
            </a:extLst>
          </p:cNvPr>
          <p:cNvSpPr/>
          <p:nvPr/>
        </p:nvSpPr>
        <p:spPr>
          <a:xfrm>
            <a:off x="10617200" y="2235200"/>
            <a:ext cx="1498600" cy="11938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4B0A6A0-891F-313F-FFC3-11E46AA2C6ED}"/>
              </a:ext>
            </a:extLst>
          </p:cNvPr>
          <p:cNvSpPr/>
          <p:nvPr/>
        </p:nvSpPr>
        <p:spPr>
          <a:xfrm>
            <a:off x="10617200" y="2235200"/>
            <a:ext cx="63500" cy="1193800"/>
          </a:xfrm>
          <a:prstGeom prst="rect">
            <a:avLst/>
          </a:prstGeom>
          <a:solidFill>
            <a:srgbClr val="2DC26B"/>
          </a:solidFill>
          <a:ln w="12700">
            <a:solidFill>
              <a:srgbClr val="2DC2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C92D1B-7018-BF3D-D2B0-7183B3A03E67}"/>
              </a:ext>
            </a:extLst>
          </p:cNvPr>
          <p:cNvSpPr txBox="1"/>
          <p:nvPr/>
        </p:nvSpPr>
        <p:spPr>
          <a:xfrm>
            <a:off x="10820400" y="2362200"/>
            <a:ext cx="1168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star schema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A00674-9A85-D712-F80C-936CAE1E5687}"/>
              </a:ext>
            </a:extLst>
          </p:cNvPr>
          <p:cNvSpPr txBox="1"/>
          <p:nvPr/>
        </p:nvSpPr>
        <p:spPr>
          <a:xfrm>
            <a:off x="10820400" y="2692400"/>
            <a:ext cx="1168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50">
                <a:solidFill>
                  <a:srgbClr val="AEB8C7"/>
                </a:solidFill>
                <a:latin typeface="Aptos" panose="020B0004020202020204" pitchFamily="34" charset="0"/>
              </a:rPr>
              <a:t>5 dims + fact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7B012EF-4DA9-A64C-6235-BC20BDDD0731}"/>
              </a:ext>
            </a:extLst>
          </p:cNvPr>
          <p:cNvSpPr/>
          <p:nvPr/>
        </p:nvSpPr>
        <p:spPr>
          <a:xfrm>
            <a:off x="1168400" y="4140200"/>
            <a:ext cx="2819400" cy="14732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11DA53A-09F2-F7DD-C898-AF39D772C538}"/>
              </a:ext>
            </a:extLst>
          </p:cNvPr>
          <p:cNvSpPr/>
          <p:nvPr/>
        </p:nvSpPr>
        <p:spPr>
          <a:xfrm>
            <a:off x="1168400" y="4140200"/>
            <a:ext cx="63500" cy="1473200"/>
          </a:xfrm>
          <a:prstGeom prst="rect">
            <a:avLst/>
          </a:prstGeom>
          <a:solidFill>
            <a:srgbClr val="5FC3FF"/>
          </a:solidFill>
          <a:ln w="12700">
            <a:solidFill>
              <a:srgbClr val="5F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914DE-82F6-06F0-873B-90AE69EA492E}"/>
              </a:ext>
            </a:extLst>
          </p:cNvPr>
          <p:cNvSpPr txBox="1"/>
          <p:nvPr/>
        </p:nvSpPr>
        <p:spPr>
          <a:xfrm>
            <a:off x="1371600" y="4267200"/>
            <a:ext cx="248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sephora_oltp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5F0CB3-5054-C84F-BBDD-34F173760457}"/>
              </a:ext>
            </a:extLst>
          </p:cNvPr>
          <p:cNvSpPr txBox="1"/>
          <p:nvPr/>
        </p:nvSpPr>
        <p:spPr>
          <a:xfrm>
            <a:off x="1371600" y="4597400"/>
            <a:ext cx="2489200" cy="48474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50">
                <a:solidFill>
                  <a:srgbClr val="AEB8C7"/>
                </a:solidFill>
                <a:latin typeface="Aptos" panose="020B0004020202020204" pitchFamily="34" charset="0"/>
              </a:rPr>
              <a:t>PostgreSQL database
raw -&gt; 3NF -&gt; staging
0 row gap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0464FFB-467F-06BC-B702-EA6778B962C6}"/>
              </a:ext>
            </a:extLst>
          </p:cNvPr>
          <p:cNvSpPr/>
          <p:nvPr/>
        </p:nvSpPr>
        <p:spPr>
          <a:xfrm>
            <a:off x="4686300" y="4140200"/>
            <a:ext cx="2819400" cy="14732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A428F89-FFEF-5AD8-13B9-8F15406775A5}"/>
              </a:ext>
            </a:extLst>
          </p:cNvPr>
          <p:cNvSpPr/>
          <p:nvPr/>
        </p:nvSpPr>
        <p:spPr>
          <a:xfrm>
            <a:off x="4686300" y="4140200"/>
            <a:ext cx="63500" cy="1473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9FBAF73-3AF6-9E75-C4A6-2242BC83E97A}"/>
              </a:ext>
            </a:extLst>
          </p:cNvPr>
          <p:cNvSpPr txBox="1"/>
          <p:nvPr/>
        </p:nvSpPr>
        <p:spPr>
          <a:xfrm>
            <a:off x="4889500" y="4267200"/>
            <a:ext cx="248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Two orchestrators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05C3E9-72BD-EF45-98A3-0D367C8221BC}"/>
              </a:ext>
            </a:extLst>
          </p:cNvPr>
          <p:cNvSpPr txBox="1"/>
          <p:nvPr/>
        </p:nvSpPr>
        <p:spPr>
          <a:xfrm>
            <a:off x="4889500" y="4597400"/>
            <a:ext cx="2489200" cy="48474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AEB8C7"/>
                </a:solidFill>
                <a:latin typeface="Aptos" panose="020B0004020202020204" pitchFamily="34" charset="0"/>
              </a:rPr>
              <a:t>pipeline.py for local runs
16-task Airflow DAG
full | historical | incremental</a:t>
            </a:r>
            <a:endParaRPr lang="en-GB" sz="1050">
              <a:solidFill>
                <a:srgbClr val="AEB8C7"/>
              </a:solidFill>
              <a:latin typeface="Aptos" panose="020B0004020202020204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3DC716E-49AB-81C6-68B6-302F10B636A5}"/>
              </a:ext>
            </a:extLst>
          </p:cNvPr>
          <p:cNvSpPr/>
          <p:nvPr/>
        </p:nvSpPr>
        <p:spPr>
          <a:xfrm>
            <a:off x="8204200" y="4140200"/>
            <a:ext cx="2819400" cy="14732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71D4633-565C-0123-C324-F3A468BC3F32}"/>
              </a:ext>
            </a:extLst>
          </p:cNvPr>
          <p:cNvSpPr/>
          <p:nvPr/>
        </p:nvSpPr>
        <p:spPr>
          <a:xfrm>
            <a:off x="8204200" y="4140200"/>
            <a:ext cx="63500" cy="1473200"/>
          </a:xfrm>
          <a:prstGeom prst="rect">
            <a:avLst/>
          </a:prstGeom>
          <a:solidFill>
            <a:srgbClr val="2DC26B"/>
          </a:solidFill>
          <a:ln w="12700">
            <a:solidFill>
              <a:srgbClr val="2DC2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47F9EB-F186-8CE3-3A72-46FDDA9AD3CA}"/>
              </a:ext>
            </a:extLst>
          </p:cNvPr>
          <p:cNvSpPr txBox="1"/>
          <p:nvPr/>
        </p:nvSpPr>
        <p:spPr>
          <a:xfrm>
            <a:off x="8407400" y="4267200"/>
            <a:ext cx="248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sephora_dw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BE860E-90AA-B862-ABB9-6CE59A48DE7A}"/>
              </a:ext>
            </a:extLst>
          </p:cNvPr>
          <p:cNvSpPr txBox="1"/>
          <p:nvPr/>
        </p:nvSpPr>
        <p:spPr>
          <a:xfrm>
            <a:off x="8407400" y="4597400"/>
            <a:ext cx="2489200" cy="48474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AEB8C7"/>
                </a:solidFill>
                <a:latin typeface="Aptos" panose="020B0004020202020204" pitchFamily="34" charset="0"/>
              </a:rPr>
              <a:t>Star schema + 10 views
Streamlit reads views only
validation shares definitions</a:t>
            </a:r>
            <a:endParaRPr lang="en-GB" sz="1050">
              <a:solidFill>
                <a:srgbClr val="AEB8C7"/>
              </a:solidFill>
              <a:latin typeface="Aptos" panose="020B00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3BC9D9-C07D-6624-DD4D-88D5B08EF76F}"/>
              </a:ext>
            </a:extLst>
          </p:cNvPr>
          <p:cNvSpPr txBox="1"/>
          <p:nvPr/>
        </p:nvSpPr>
        <p:spPr>
          <a:xfrm>
            <a:off x="558800" y="5969000"/>
            <a:ext cx="110744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250" b="1">
                <a:solidFill>
                  <a:srgbClr val="F7F8FA"/>
                </a:solidFill>
                <a:latin typeface="Aptos" panose="020B0004020202020204" pitchFamily="34" charset="0"/>
              </a:rPr>
              <a:t>Grain of fact_reviews: one row per review. PostgreSQL generates every surrogate key.</a:t>
            </a:r>
            <a:endParaRPr lang="en-GB" sz="1250" b="1">
              <a:solidFill>
                <a:srgbClr val="F7F8F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933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824132-E26D-2A06-658E-8F5A447CB276}"/>
              </a:ext>
            </a:extLst>
          </p:cNvPr>
          <p:cNvSpPr txBox="1"/>
          <p:nvPr/>
        </p:nvSpPr>
        <p:spPr>
          <a:xfrm>
            <a:off x="558800" y="279400"/>
            <a:ext cx="10922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950" b="1">
                <a:solidFill>
                  <a:srgbClr val="FF4B4B"/>
                </a:solidFill>
                <a:latin typeface="Aptos" panose="020B0004020202020204" pitchFamily="34" charset="0"/>
              </a:rPr>
              <a:t>03 | DIMENSIONAL MODELLING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CCD863-372A-123B-6B68-624826885FB5}"/>
              </a:ext>
            </a:extLst>
          </p:cNvPr>
          <p:cNvSpPr txBox="1"/>
          <p:nvPr/>
        </p:nvSpPr>
        <p:spPr>
          <a:xfrm>
            <a:off x="558800" y="5842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700" b="1">
                <a:solidFill>
                  <a:srgbClr val="F7F8FA"/>
                </a:solidFill>
                <a:latin typeface="Aptos Display" panose="020B0004020202020204" pitchFamily="34" charset="0"/>
              </a:rPr>
              <a:t>The profile belongs to the review</a:t>
            </a:r>
            <a:endParaRPr lang="en-GB" sz="2700" b="1">
              <a:solidFill>
                <a:srgbClr val="F7F8FA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AFFA0B-8C72-5D69-C4CA-16A81F04811B}"/>
              </a:ext>
            </a:extLst>
          </p:cNvPr>
          <p:cNvSpPr/>
          <p:nvPr/>
        </p:nvSpPr>
        <p:spPr>
          <a:xfrm>
            <a:off x="558800" y="1219200"/>
            <a:ext cx="914400" cy="381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BA0597-A18D-4DB8-6D82-F28430AB59EB}"/>
              </a:ext>
            </a:extLst>
          </p:cNvPr>
          <p:cNvSpPr txBox="1"/>
          <p:nvPr/>
        </p:nvSpPr>
        <p:spPr>
          <a:xfrm>
            <a:off x="558800" y="6527800"/>
            <a:ext cx="7620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850">
                <a:solidFill>
                  <a:srgbClr val="AEB8C7"/>
                </a:solidFill>
                <a:latin typeface="Aptos" panose="020B0004020202020204" pitchFamily="34" charset="0"/>
              </a:rPr>
              <a:t>Sephora Reviews Analytics Pipeline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7D4B27-A616-6C8C-6B6E-E85855757464}"/>
              </a:ext>
            </a:extLst>
          </p:cNvPr>
          <p:cNvSpPr txBox="1"/>
          <p:nvPr/>
        </p:nvSpPr>
        <p:spPr>
          <a:xfrm>
            <a:off x="11430000" y="6527800"/>
            <a:ext cx="254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850" b="1">
                <a:solidFill>
                  <a:srgbClr val="AEB8C7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51E3AC-C726-AC07-D56E-8F3C8221655C}"/>
              </a:ext>
            </a:extLst>
          </p:cNvPr>
          <p:cNvSpPr txBox="1"/>
          <p:nvPr/>
        </p:nvSpPr>
        <p:spPr>
          <a:xfrm>
            <a:off x="558800" y="1397000"/>
            <a:ext cx="11074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AEB8C7"/>
                </a:solidFill>
                <a:latin typeface="Aptos" panose="020B0004020202020204" pitchFamily="34" charset="0"/>
              </a:rPr>
              <a:t>A one-row-per-author customer dimension would silently assign the wrong skin profile to roughly one review in seven.</a:t>
            </a:r>
            <a:endParaRPr lang="en-GB" sz="1300">
              <a:solidFill>
                <a:srgbClr val="AEB8C7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7E34DB-DD74-6B3E-82FB-42DB2381A7F3}"/>
              </a:ext>
            </a:extLst>
          </p:cNvPr>
          <p:cNvSpPr/>
          <p:nvPr/>
        </p:nvSpPr>
        <p:spPr>
          <a:xfrm>
            <a:off x="4686300" y="2705100"/>
            <a:ext cx="2844800" cy="1422400"/>
          </a:xfrm>
          <a:prstGeom prst="roundRect">
            <a:avLst/>
          </a:prstGeom>
          <a:solidFill>
            <a:srgbClr val="242A39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21C6D9-9FA1-66DC-1E80-B24C25CAE5E5}"/>
              </a:ext>
            </a:extLst>
          </p:cNvPr>
          <p:cNvSpPr/>
          <p:nvPr/>
        </p:nvSpPr>
        <p:spPr>
          <a:xfrm>
            <a:off x="4686300" y="2705100"/>
            <a:ext cx="63500" cy="14224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489BEF-F0AE-EEEA-B13D-DA5840CEE031}"/>
              </a:ext>
            </a:extLst>
          </p:cNvPr>
          <p:cNvSpPr txBox="1"/>
          <p:nvPr/>
        </p:nvSpPr>
        <p:spPr>
          <a:xfrm>
            <a:off x="4889500" y="2832100"/>
            <a:ext cx="25146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fact_reviews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918FC1-BAFE-8A27-4723-CEC9B91FA597}"/>
              </a:ext>
            </a:extLst>
          </p:cNvPr>
          <p:cNvSpPr txBox="1"/>
          <p:nvPr/>
        </p:nvSpPr>
        <p:spPr>
          <a:xfrm>
            <a:off x="4889500" y="3162300"/>
            <a:ext cx="2514600" cy="48474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AEB8C7"/>
                </a:solidFill>
                <a:latin typeface="Aptos" panose="020B0004020202020204" pitchFamily="34" charset="0"/>
              </a:rPr>
              <a:t>1,093,371 rows
one review per row
4 foreign keys</a:t>
            </a:r>
            <a:endParaRPr lang="en-GB" sz="1050">
              <a:solidFill>
                <a:srgbClr val="AEB8C7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91D901E-C731-6F53-915E-F6F6D0CEB70C}"/>
              </a:ext>
            </a:extLst>
          </p:cNvPr>
          <p:cNvSpPr/>
          <p:nvPr/>
        </p:nvSpPr>
        <p:spPr>
          <a:xfrm>
            <a:off x="787400" y="2171700"/>
            <a:ext cx="2641600" cy="11684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427345-D2DD-D210-8D6C-41044A9570B2}"/>
              </a:ext>
            </a:extLst>
          </p:cNvPr>
          <p:cNvSpPr/>
          <p:nvPr/>
        </p:nvSpPr>
        <p:spPr>
          <a:xfrm>
            <a:off x="787400" y="2171700"/>
            <a:ext cx="63500" cy="1168400"/>
          </a:xfrm>
          <a:prstGeom prst="rect">
            <a:avLst/>
          </a:prstGeom>
          <a:solidFill>
            <a:srgbClr val="5FC3FF"/>
          </a:solidFill>
          <a:ln w="12700">
            <a:solidFill>
              <a:srgbClr val="5F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3CB937-F433-CD68-E03A-9E7F168E0695}"/>
              </a:ext>
            </a:extLst>
          </p:cNvPr>
          <p:cNvSpPr txBox="1"/>
          <p:nvPr/>
        </p:nvSpPr>
        <p:spPr>
          <a:xfrm>
            <a:off x="990600" y="2298700"/>
            <a:ext cx="2311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dim_product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B25E07-AC6F-6AB1-93F8-8A4082545A91}"/>
              </a:ext>
            </a:extLst>
          </p:cNvPr>
          <p:cNvSpPr txBox="1"/>
          <p:nvPr/>
        </p:nvSpPr>
        <p:spPr>
          <a:xfrm>
            <a:off x="990600" y="2628900"/>
            <a:ext cx="23114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AEB8C7"/>
                </a:solidFill>
                <a:latin typeface="Aptos" panose="020B0004020202020204" pitchFamily="34" charset="0"/>
              </a:rPr>
              <a:t>8,494 products
brand + categories + price</a:t>
            </a:r>
            <a:endParaRPr lang="en-GB" sz="1050">
              <a:solidFill>
                <a:srgbClr val="AEB8C7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8121FAB-A478-28B9-9403-F4D45CBB6122}"/>
              </a:ext>
            </a:extLst>
          </p:cNvPr>
          <p:cNvSpPr/>
          <p:nvPr/>
        </p:nvSpPr>
        <p:spPr>
          <a:xfrm>
            <a:off x="787400" y="4000500"/>
            <a:ext cx="2641600" cy="11684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2AF94A-6848-1AA5-6D30-C06565C79720}"/>
              </a:ext>
            </a:extLst>
          </p:cNvPr>
          <p:cNvSpPr/>
          <p:nvPr/>
        </p:nvSpPr>
        <p:spPr>
          <a:xfrm>
            <a:off x="787400" y="4000500"/>
            <a:ext cx="63500" cy="1168400"/>
          </a:xfrm>
          <a:prstGeom prst="rect">
            <a:avLst/>
          </a:prstGeom>
          <a:solidFill>
            <a:srgbClr val="5FC3FF"/>
          </a:solidFill>
          <a:ln w="12700">
            <a:solidFill>
              <a:srgbClr val="5F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304A23-B09C-861E-6E9B-9B3E53C1D4EE}"/>
              </a:ext>
            </a:extLst>
          </p:cNvPr>
          <p:cNvSpPr txBox="1"/>
          <p:nvPr/>
        </p:nvSpPr>
        <p:spPr>
          <a:xfrm>
            <a:off x="990600" y="4127500"/>
            <a:ext cx="2311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dim_date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ABE1B5-E6BD-5364-FA83-2886E5BF56E4}"/>
              </a:ext>
            </a:extLst>
          </p:cNvPr>
          <p:cNvSpPr txBox="1"/>
          <p:nvPr/>
        </p:nvSpPr>
        <p:spPr>
          <a:xfrm>
            <a:off x="990600" y="4457700"/>
            <a:ext cx="23114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50">
                <a:solidFill>
                  <a:srgbClr val="AEB8C7"/>
                </a:solidFill>
                <a:latin typeface="Aptos" panose="020B0004020202020204" pitchFamily="34" charset="0"/>
              </a:rPr>
              <a:t>5,379 dates
YYYYMMDD integer key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AA8FF41-5A7E-2EED-0A33-0BABA59DD302}"/>
              </a:ext>
            </a:extLst>
          </p:cNvPr>
          <p:cNvSpPr/>
          <p:nvPr/>
        </p:nvSpPr>
        <p:spPr>
          <a:xfrm>
            <a:off x="8763000" y="2171700"/>
            <a:ext cx="2641600" cy="11684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5E5398-AB35-DDBE-4954-782C2487E5FE}"/>
              </a:ext>
            </a:extLst>
          </p:cNvPr>
          <p:cNvSpPr/>
          <p:nvPr/>
        </p:nvSpPr>
        <p:spPr>
          <a:xfrm>
            <a:off x="8763000" y="2171700"/>
            <a:ext cx="63500" cy="1168400"/>
          </a:xfrm>
          <a:prstGeom prst="rect">
            <a:avLst/>
          </a:prstGeom>
          <a:solidFill>
            <a:srgbClr val="5FC3FF"/>
          </a:solidFill>
          <a:ln w="12700">
            <a:solidFill>
              <a:srgbClr val="5F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152ABB-2503-727C-A6BD-3DD5F12946DC}"/>
              </a:ext>
            </a:extLst>
          </p:cNvPr>
          <p:cNvSpPr txBox="1"/>
          <p:nvPr/>
        </p:nvSpPr>
        <p:spPr>
          <a:xfrm>
            <a:off x="8966200" y="2298700"/>
            <a:ext cx="2311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dim_customer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E02B0A-B989-2BAF-A326-3430107EFE29}"/>
              </a:ext>
            </a:extLst>
          </p:cNvPr>
          <p:cNvSpPr txBox="1"/>
          <p:nvPr/>
        </p:nvSpPr>
        <p:spPr>
          <a:xfrm>
            <a:off x="8966200" y="2628900"/>
            <a:ext cx="23114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50">
                <a:solidFill>
                  <a:srgbClr val="AEB8C7"/>
                </a:solidFill>
                <a:latin typeface="Aptos" panose="020B0004020202020204" pitchFamily="34" charset="0"/>
              </a:rPr>
              <a:t>503,216 authors
identity only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901AF8E-3393-5252-5FFA-1B41AFB4B7ED}"/>
              </a:ext>
            </a:extLst>
          </p:cNvPr>
          <p:cNvSpPr/>
          <p:nvPr/>
        </p:nvSpPr>
        <p:spPr>
          <a:xfrm>
            <a:off x="8763000" y="4000500"/>
            <a:ext cx="2641600" cy="11684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0FDE2B-39EA-D3BC-AC39-4643C3314A62}"/>
              </a:ext>
            </a:extLst>
          </p:cNvPr>
          <p:cNvSpPr/>
          <p:nvPr/>
        </p:nvSpPr>
        <p:spPr>
          <a:xfrm>
            <a:off x="8763000" y="4000500"/>
            <a:ext cx="63500" cy="1168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22CE17-B990-910D-9AFD-3A160210FA3B}"/>
              </a:ext>
            </a:extLst>
          </p:cNvPr>
          <p:cNvSpPr txBox="1"/>
          <p:nvPr/>
        </p:nvSpPr>
        <p:spPr>
          <a:xfrm>
            <a:off x="8966200" y="4127500"/>
            <a:ext cx="2311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dim_reviewer_profile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7C955A-9299-009E-56E7-1A2208205EA6}"/>
              </a:ext>
            </a:extLst>
          </p:cNvPr>
          <p:cNvSpPr txBox="1"/>
          <p:nvPr/>
        </p:nvSpPr>
        <p:spPr>
          <a:xfrm>
            <a:off x="8966200" y="4457700"/>
            <a:ext cx="23114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50">
                <a:solidFill>
                  <a:srgbClr val="AEB8C7"/>
                </a:solidFill>
                <a:latin typeface="Aptos" panose="020B0004020202020204" pitchFamily="34" charset="0"/>
              </a:rPr>
              <a:t>1,896 combinations
skin | eye | hair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108876C-F634-DA3A-2580-4A62EF36C35F}"/>
              </a:ext>
            </a:extLst>
          </p:cNvPr>
          <p:cNvCxnSpPr/>
          <p:nvPr/>
        </p:nvCxnSpPr>
        <p:spPr>
          <a:xfrm>
            <a:off x="3429000" y="2755900"/>
            <a:ext cx="1257300" cy="660400"/>
          </a:xfrm>
          <a:prstGeom prst="line">
            <a:avLst/>
          </a:prstGeom>
          <a:ln w="38100">
            <a:solidFill>
              <a:srgbClr val="F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6F85070-B33D-214A-5888-A76C9BD7A97C}"/>
              </a:ext>
            </a:extLst>
          </p:cNvPr>
          <p:cNvCxnSpPr/>
          <p:nvPr/>
        </p:nvCxnSpPr>
        <p:spPr>
          <a:xfrm flipV="1">
            <a:off x="3429000" y="3416300"/>
            <a:ext cx="1257300" cy="1168400"/>
          </a:xfrm>
          <a:prstGeom prst="line">
            <a:avLst/>
          </a:prstGeom>
          <a:ln w="38100">
            <a:solidFill>
              <a:srgbClr val="F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5909501-1A88-F10A-C510-AB49CCC15549}"/>
              </a:ext>
            </a:extLst>
          </p:cNvPr>
          <p:cNvCxnSpPr/>
          <p:nvPr/>
        </p:nvCxnSpPr>
        <p:spPr>
          <a:xfrm flipV="1">
            <a:off x="7531100" y="2755900"/>
            <a:ext cx="1231900" cy="660400"/>
          </a:xfrm>
          <a:prstGeom prst="line">
            <a:avLst/>
          </a:prstGeom>
          <a:ln w="38100">
            <a:solidFill>
              <a:srgbClr val="F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256CA58-C3A6-CFFD-92F3-18C12A6FF6F8}"/>
              </a:ext>
            </a:extLst>
          </p:cNvPr>
          <p:cNvCxnSpPr/>
          <p:nvPr/>
        </p:nvCxnSpPr>
        <p:spPr>
          <a:xfrm>
            <a:off x="7531100" y="3416300"/>
            <a:ext cx="1231900" cy="1168400"/>
          </a:xfrm>
          <a:prstGeom prst="line">
            <a:avLst/>
          </a:prstGeom>
          <a:ln w="38100">
            <a:solidFill>
              <a:srgbClr val="F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4988C29-DDBE-609A-AF71-D0A17E8AA15C}"/>
              </a:ext>
            </a:extLst>
          </p:cNvPr>
          <p:cNvSpPr txBox="1"/>
          <p:nvPr/>
        </p:nvSpPr>
        <p:spPr>
          <a:xfrm>
            <a:off x="3822700" y="2032000"/>
            <a:ext cx="45466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200" b="1">
                <a:solidFill>
                  <a:srgbClr val="FF4B4B"/>
                </a:solidFill>
                <a:latin typeface="Aptos" panose="020B0004020202020204" pitchFamily="34" charset="0"/>
              </a:rPr>
              <a:t>D2 - measured before modelling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FCD009-28C9-1ADA-B999-1444397C2BC8}"/>
              </a:ext>
            </a:extLst>
          </p:cNvPr>
          <p:cNvSpPr txBox="1"/>
          <p:nvPr/>
        </p:nvSpPr>
        <p:spPr>
          <a:xfrm>
            <a:off x="3771900" y="5689600"/>
            <a:ext cx="46482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300" b="1">
                <a:solidFill>
                  <a:srgbClr val="F7F8FA"/>
                </a:solidFill>
                <a:latin typeface="Aptos" panose="020B0004020202020204" pitchFamily="34" charset="0"/>
              </a:rPr>
              <a:t>22,503 authors changed profile attributes
149,788 reviews affected | 13.69% of the dataset</a:t>
            </a:r>
            <a:endParaRPr lang="en-GB" sz="1300" b="1">
              <a:solidFill>
                <a:srgbClr val="F7F8F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461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DCB773-0309-78D6-8B63-6C93E3F43F4E}"/>
              </a:ext>
            </a:extLst>
          </p:cNvPr>
          <p:cNvSpPr txBox="1"/>
          <p:nvPr/>
        </p:nvSpPr>
        <p:spPr>
          <a:xfrm>
            <a:off x="558800" y="279400"/>
            <a:ext cx="10922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FF4B4B"/>
                </a:solidFill>
                <a:latin typeface="Aptos" panose="020B0004020202020204" pitchFamily="34" charset="0"/>
              </a:rPr>
              <a:t>04 | ETL, QUALITY AND INCREMENTALS</a:t>
            </a:r>
            <a:endParaRPr lang="en-GB" sz="950" b="1">
              <a:solidFill>
                <a:srgbClr val="FF4B4B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D37EFF-75EF-6FE1-A333-6EAF93B4CB2F}"/>
              </a:ext>
            </a:extLst>
          </p:cNvPr>
          <p:cNvSpPr txBox="1"/>
          <p:nvPr/>
        </p:nvSpPr>
        <p:spPr>
          <a:xfrm>
            <a:off x="558800" y="5842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700" b="1">
                <a:solidFill>
                  <a:srgbClr val="F7F8FA"/>
                </a:solidFill>
                <a:latin typeface="Aptos Display" panose="020B0004020202020204" pitchFamily="34" charset="0"/>
              </a:rPr>
              <a:t>Make silent data loss impossible</a:t>
            </a:r>
            <a:endParaRPr lang="en-GB" sz="2700" b="1">
              <a:solidFill>
                <a:srgbClr val="F7F8FA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E37694-6084-327B-B4F4-DA17A08B26C1}"/>
              </a:ext>
            </a:extLst>
          </p:cNvPr>
          <p:cNvSpPr/>
          <p:nvPr/>
        </p:nvSpPr>
        <p:spPr>
          <a:xfrm>
            <a:off x="558800" y="1219200"/>
            <a:ext cx="914400" cy="381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AD2247-21A2-8240-2BB7-DADD0536DA2F}"/>
              </a:ext>
            </a:extLst>
          </p:cNvPr>
          <p:cNvSpPr txBox="1"/>
          <p:nvPr/>
        </p:nvSpPr>
        <p:spPr>
          <a:xfrm>
            <a:off x="558800" y="6527800"/>
            <a:ext cx="7620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850">
                <a:solidFill>
                  <a:srgbClr val="AEB8C7"/>
                </a:solidFill>
                <a:latin typeface="Aptos" panose="020B0004020202020204" pitchFamily="34" charset="0"/>
              </a:rPr>
              <a:t>Sephora Reviews Analytics Pipeline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534D10-BABD-168F-8AC6-3686A9F127FF}"/>
              </a:ext>
            </a:extLst>
          </p:cNvPr>
          <p:cNvSpPr txBox="1"/>
          <p:nvPr/>
        </p:nvSpPr>
        <p:spPr>
          <a:xfrm>
            <a:off x="11430000" y="6527800"/>
            <a:ext cx="254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850" b="1">
                <a:solidFill>
                  <a:srgbClr val="AEB8C7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B06A11-B358-896C-79DB-CA9F2623660F}"/>
              </a:ext>
            </a:extLst>
          </p:cNvPr>
          <p:cNvSpPr txBox="1"/>
          <p:nvPr/>
        </p:nvSpPr>
        <p:spPr>
          <a:xfrm>
            <a:off x="558800" y="1397000"/>
            <a:ext cx="11074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AEB8C7"/>
                </a:solidFill>
                <a:latin typeface="Aptos" panose="020B0004020202020204" pitchFamily="34" charset="0"/>
              </a:rPr>
              <a:t>The course reference structure is preserved, with reconciliation and severity-aware gates added where this dataset needs them.</a:t>
            </a:r>
            <a:endParaRPr lang="en-GB" sz="1300">
              <a:solidFill>
                <a:srgbClr val="AEB8C7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A4E58A-EE5A-427E-4D55-8E6843B40B3C}"/>
              </a:ext>
            </a:extLst>
          </p:cNvPr>
          <p:cNvSpPr/>
          <p:nvPr/>
        </p:nvSpPr>
        <p:spPr>
          <a:xfrm>
            <a:off x="685800" y="2235200"/>
            <a:ext cx="1841500" cy="11684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4111BC-86AA-253A-D1F6-139F2FD3749E}"/>
              </a:ext>
            </a:extLst>
          </p:cNvPr>
          <p:cNvSpPr/>
          <p:nvPr/>
        </p:nvSpPr>
        <p:spPr>
          <a:xfrm>
            <a:off x="685800" y="2235200"/>
            <a:ext cx="63500" cy="1168400"/>
          </a:xfrm>
          <a:prstGeom prst="rect">
            <a:avLst/>
          </a:prstGeom>
          <a:solidFill>
            <a:srgbClr val="5FC3FF"/>
          </a:solidFill>
          <a:ln w="12700">
            <a:solidFill>
              <a:srgbClr val="5F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4180B5-3962-957A-0749-A596C05ACB15}"/>
              </a:ext>
            </a:extLst>
          </p:cNvPr>
          <p:cNvSpPr txBox="1"/>
          <p:nvPr/>
        </p:nvSpPr>
        <p:spPr>
          <a:xfrm>
            <a:off x="889000" y="2362200"/>
            <a:ext cx="15113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Extract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AB50FA-5560-133A-1839-198A47901F5E}"/>
              </a:ext>
            </a:extLst>
          </p:cNvPr>
          <p:cNvSpPr txBox="1"/>
          <p:nvPr/>
        </p:nvSpPr>
        <p:spPr>
          <a:xfrm>
            <a:off x="889000" y="2692400"/>
            <a:ext cx="15113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50">
                <a:solidFill>
                  <a:srgbClr val="AEB8C7"/>
                </a:solidFill>
                <a:latin typeface="Aptos" panose="020B0004020202020204" pitchFamily="34" charset="0"/>
              </a:rPr>
              <a:t>named SQL reads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4AE41F20-EE5A-3CCD-5B2A-D8C84289D99D}"/>
              </a:ext>
            </a:extLst>
          </p:cNvPr>
          <p:cNvSpPr/>
          <p:nvPr/>
        </p:nvSpPr>
        <p:spPr>
          <a:xfrm>
            <a:off x="2578100" y="2628900"/>
            <a:ext cx="342900" cy="342900"/>
          </a:xfrm>
          <a:prstGeom prst="chevron">
            <a:avLst/>
          </a:prstGeom>
          <a:solidFill>
            <a:srgbClr val="FF4B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B8B329-F49A-CFC3-7780-9076044B92B6}"/>
              </a:ext>
            </a:extLst>
          </p:cNvPr>
          <p:cNvSpPr/>
          <p:nvPr/>
        </p:nvSpPr>
        <p:spPr>
          <a:xfrm>
            <a:off x="2959100" y="2235200"/>
            <a:ext cx="1841500" cy="11684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AC3F70-9B6D-9252-B3C8-21D521E631FA}"/>
              </a:ext>
            </a:extLst>
          </p:cNvPr>
          <p:cNvSpPr/>
          <p:nvPr/>
        </p:nvSpPr>
        <p:spPr>
          <a:xfrm>
            <a:off x="2959100" y="2235200"/>
            <a:ext cx="63500" cy="1168400"/>
          </a:xfrm>
          <a:prstGeom prst="rect">
            <a:avLst/>
          </a:prstGeom>
          <a:solidFill>
            <a:srgbClr val="5FC3FF"/>
          </a:solidFill>
          <a:ln w="12700">
            <a:solidFill>
              <a:srgbClr val="5F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884668-B38E-E48D-25EF-146A388CF0F6}"/>
              </a:ext>
            </a:extLst>
          </p:cNvPr>
          <p:cNvSpPr txBox="1"/>
          <p:nvPr/>
        </p:nvSpPr>
        <p:spPr>
          <a:xfrm>
            <a:off x="3162300" y="2362200"/>
            <a:ext cx="15113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Transform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AC23BE-918E-6941-4672-2AE8A743A83B}"/>
              </a:ext>
            </a:extLst>
          </p:cNvPr>
          <p:cNvSpPr txBox="1"/>
          <p:nvPr/>
        </p:nvSpPr>
        <p:spPr>
          <a:xfrm>
            <a:off x="3162300" y="2692400"/>
            <a:ext cx="15113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50">
                <a:solidFill>
                  <a:srgbClr val="AEB8C7"/>
                </a:solidFill>
                <a:latin typeface="Aptos" panose="020B0004020202020204" pitchFamily="34" charset="0"/>
              </a:rPr>
              <a:t>resolve keys</a:t>
            </a: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37FFC8DC-AC73-133A-5D5D-B3EEA9A7ACF1}"/>
              </a:ext>
            </a:extLst>
          </p:cNvPr>
          <p:cNvSpPr/>
          <p:nvPr/>
        </p:nvSpPr>
        <p:spPr>
          <a:xfrm>
            <a:off x="4851400" y="2628900"/>
            <a:ext cx="342900" cy="342900"/>
          </a:xfrm>
          <a:prstGeom prst="chevron">
            <a:avLst/>
          </a:prstGeom>
          <a:solidFill>
            <a:srgbClr val="FF4B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F74BF24-543C-6040-CC74-7EB47FF2D39C}"/>
              </a:ext>
            </a:extLst>
          </p:cNvPr>
          <p:cNvSpPr/>
          <p:nvPr/>
        </p:nvSpPr>
        <p:spPr>
          <a:xfrm>
            <a:off x="5232400" y="2235200"/>
            <a:ext cx="1841500" cy="11684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90BFEE-3415-D0A9-0C1E-A084945DBC24}"/>
              </a:ext>
            </a:extLst>
          </p:cNvPr>
          <p:cNvSpPr/>
          <p:nvPr/>
        </p:nvSpPr>
        <p:spPr>
          <a:xfrm>
            <a:off x="5232400" y="2235200"/>
            <a:ext cx="63500" cy="1168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57DC04-019A-321B-FCFF-35D5A2F46F5B}"/>
              </a:ext>
            </a:extLst>
          </p:cNvPr>
          <p:cNvSpPr txBox="1"/>
          <p:nvPr/>
        </p:nvSpPr>
        <p:spPr>
          <a:xfrm>
            <a:off x="5435600" y="2362200"/>
            <a:ext cx="15113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Reconcile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3A9D29-97AE-6497-BCF5-DDA0C98DCF03}"/>
              </a:ext>
            </a:extLst>
          </p:cNvPr>
          <p:cNvSpPr txBox="1"/>
          <p:nvPr/>
        </p:nvSpPr>
        <p:spPr>
          <a:xfrm>
            <a:off x="5435600" y="2692400"/>
            <a:ext cx="15113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50">
                <a:solidFill>
                  <a:srgbClr val="AEB8C7"/>
                </a:solidFill>
                <a:latin typeface="Aptos" panose="020B0004020202020204" pitchFamily="34" charset="0"/>
              </a:rPr>
              <a:t>count every drop</a:t>
            </a: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13054DE9-6D20-12E4-C544-6560442DF8E4}"/>
              </a:ext>
            </a:extLst>
          </p:cNvPr>
          <p:cNvSpPr/>
          <p:nvPr/>
        </p:nvSpPr>
        <p:spPr>
          <a:xfrm>
            <a:off x="7124700" y="2628900"/>
            <a:ext cx="342900" cy="342900"/>
          </a:xfrm>
          <a:prstGeom prst="chevron">
            <a:avLst/>
          </a:prstGeom>
          <a:solidFill>
            <a:srgbClr val="FF4B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82C21BE-82DC-415F-AB20-77C0D4C40634}"/>
              </a:ext>
            </a:extLst>
          </p:cNvPr>
          <p:cNvSpPr/>
          <p:nvPr/>
        </p:nvSpPr>
        <p:spPr>
          <a:xfrm>
            <a:off x="7505700" y="2235200"/>
            <a:ext cx="1841500" cy="11684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FD955E-058B-79FD-A73B-386520DC2300}"/>
              </a:ext>
            </a:extLst>
          </p:cNvPr>
          <p:cNvSpPr/>
          <p:nvPr/>
        </p:nvSpPr>
        <p:spPr>
          <a:xfrm>
            <a:off x="7505700" y="2235200"/>
            <a:ext cx="63500" cy="11684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8D3D8A-3D88-05D6-1DE4-DC67660BE860}"/>
              </a:ext>
            </a:extLst>
          </p:cNvPr>
          <p:cNvSpPr txBox="1"/>
          <p:nvPr/>
        </p:nvSpPr>
        <p:spPr>
          <a:xfrm>
            <a:off x="7708900" y="2362200"/>
            <a:ext cx="15113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Quality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B58885-405A-980E-771E-74D40B9A840E}"/>
              </a:ext>
            </a:extLst>
          </p:cNvPr>
          <p:cNvSpPr txBox="1"/>
          <p:nvPr/>
        </p:nvSpPr>
        <p:spPr>
          <a:xfrm>
            <a:off x="7708900" y="2692400"/>
            <a:ext cx="15113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50">
                <a:solidFill>
                  <a:srgbClr val="AEB8C7"/>
                </a:solidFill>
                <a:latin typeface="Aptos" panose="020B0004020202020204" pitchFamily="34" charset="0"/>
              </a:rPr>
              <a:t>gate, not fixer</a:t>
            </a: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B364AE08-E34F-6D68-2A98-4F4FADFD09E5}"/>
              </a:ext>
            </a:extLst>
          </p:cNvPr>
          <p:cNvSpPr/>
          <p:nvPr/>
        </p:nvSpPr>
        <p:spPr>
          <a:xfrm>
            <a:off x="9398000" y="2628900"/>
            <a:ext cx="342900" cy="342900"/>
          </a:xfrm>
          <a:prstGeom prst="chevron">
            <a:avLst/>
          </a:prstGeom>
          <a:solidFill>
            <a:srgbClr val="FF4B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72DCD3B-C31B-A71B-D53D-E43D6FA783A3}"/>
              </a:ext>
            </a:extLst>
          </p:cNvPr>
          <p:cNvSpPr/>
          <p:nvPr/>
        </p:nvSpPr>
        <p:spPr>
          <a:xfrm>
            <a:off x="9779000" y="2235200"/>
            <a:ext cx="1841500" cy="11684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55A5B4-983E-071A-2C3A-6AA73AA3D298}"/>
              </a:ext>
            </a:extLst>
          </p:cNvPr>
          <p:cNvSpPr/>
          <p:nvPr/>
        </p:nvSpPr>
        <p:spPr>
          <a:xfrm>
            <a:off x="9779000" y="2235200"/>
            <a:ext cx="63500" cy="1168400"/>
          </a:xfrm>
          <a:prstGeom prst="rect">
            <a:avLst/>
          </a:prstGeom>
          <a:solidFill>
            <a:srgbClr val="2DC26B"/>
          </a:solidFill>
          <a:ln w="12700">
            <a:solidFill>
              <a:srgbClr val="2DC2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80F0BB-44F6-20A2-F683-0BF8961EE3C5}"/>
              </a:ext>
            </a:extLst>
          </p:cNvPr>
          <p:cNvSpPr txBox="1"/>
          <p:nvPr/>
        </p:nvSpPr>
        <p:spPr>
          <a:xfrm>
            <a:off x="9982200" y="2362200"/>
            <a:ext cx="15113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Load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FD1952-6A59-6372-46D8-CDDC06689B16}"/>
              </a:ext>
            </a:extLst>
          </p:cNvPr>
          <p:cNvSpPr txBox="1"/>
          <p:nvPr/>
        </p:nvSpPr>
        <p:spPr>
          <a:xfrm>
            <a:off x="9982200" y="2692400"/>
            <a:ext cx="15113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50">
                <a:solidFill>
                  <a:srgbClr val="AEB8C7"/>
                </a:solidFill>
                <a:latin typeface="Aptos" panose="020B0004020202020204" pitchFamily="34" charset="0"/>
              </a:rPr>
              <a:t>idempotent inserts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93FCF1A-31B4-CC9B-EFC7-494E97EC01E8}"/>
              </a:ext>
            </a:extLst>
          </p:cNvPr>
          <p:cNvSpPr/>
          <p:nvPr/>
        </p:nvSpPr>
        <p:spPr>
          <a:xfrm>
            <a:off x="558800" y="3987800"/>
            <a:ext cx="3429000" cy="15494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17FFC9-F941-3345-9689-D291DEA22737}"/>
              </a:ext>
            </a:extLst>
          </p:cNvPr>
          <p:cNvSpPr/>
          <p:nvPr/>
        </p:nvSpPr>
        <p:spPr>
          <a:xfrm>
            <a:off x="558800" y="3987800"/>
            <a:ext cx="63500" cy="1549400"/>
          </a:xfrm>
          <a:prstGeom prst="rect">
            <a:avLst/>
          </a:prstGeom>
          <a:solidFill>
            <a:srgbClr val="5FC3FF"/>
          </a:solidFill>
          <a:ln w="12700">
            <a:solidFill>
              <a:srgbClr val="5F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8FE248-8EC7-D6B8-8D79-5C916D858BF7}"/>
              </a:ext>
            </a:extLst>
          </p:cNvPr>
          <p:cNvSpPr txBox="1"/>
          <p:nvPr/>
        </p:nvSpPr>
        <p:spPr>
          <a:xfrm>
            <a:off x="762000" y="4114800"/>
            <a:ext cx="30988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full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601F64-4BCE-C424-FEA8-D6F8A6AF1FD3}"/>
              </a:ext>
            </a:extLst>
          </p:cNvPr>
          <p:cNvSpPr txBox="1"/>
          <p:nvPr/>
        </p:nvSpPr>
        <p:spPr>
          <a:xfrm>
            <a:off x="762000" y="4445000"/>
            <a:ext cx="3098800" cy="48474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AEB8C7"/>
                </a:solidFill>
                <a:latin typeface="Aptos" panose="020B0004020202020204" pitchFamily="34" charset="0"/>
              </a:rPr>
              <a:t>Every staged review
No date bound
Safe re-run: conflicts insert 0</a:t>
            </a:r>
            <a:endParaRPr lang="en-GB" sz="1050">
              <a:solidFill>
                <a:srgbClr val="AEB8C7"/>
              </a:solidFill>
              <a:latin typeface="Aptos" panose="020B0004020202020204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5203068-4969-C735-FF82-8E7246D44C7A}"/>
              </a:ext>
            </a:extLst>
          </p:cNvPr>
          <p:cNvSpPr/>
          <p:nvPr/>
        </p:nvSpPr>
        <p:spPr>
          <a:xfrm>
            <a:off x="4381500" y="3987800"/>
            <a:ext cx="3429000" cy="15494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61A0B47-91E7-E2AF-BA79-A563CA6451BC}"/>
              </a:ext>
            </a:extLst>
          </p:cNvPr>
          <p:cNvSpPr/>
          <p:nvPr/>
        </p:nvSpPr>
        <p:spPr>
          <a:xfrm>
            <a:off x="4381500" y="3987800"/>
            <a:ext cx="63500" cy="1549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F3F1F-1A41-B973-9E27-80D12E5C066C}"/>
              </a:ext>
            </a:extLst>
          </p:cNvPr>
          <p:cNvSpPr txBox="1"/>
          <p:nvPr/>
        </p:nvSpPr>
        <p:spPr>
          <a:xfrm>
            <a:off x="4584700" y="4114800"/>
            <a:ext cx="30988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historical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C15CD3-A689-D341-FB90-D8157550F8FF}"/>
              </a:ext>
            </a:extLst>
          </p:cNvPr>
          <p:cNvSpPr txBox="1"/>
          <p:nvPr/>
        </p:nvSpPr>
        <p:spPr>
          <a:xfrm>
            <a:off x="4584700" y="4445000"/>
            <a:ext cx="3098800" cy="48474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AEB8C7"/>
                </a:solidFill>
                <a:latin typeface="Aptos" panose="020B0004020202020204" pitchFamily="34" charset="0"/>
              </a:rPr>
              <a:t>Before 2023-01-01
1,043,868-row demo baseline
49,503 held back, not lost</a:t>
            </a:r>
            <a:endParaRPr lang="en-GB" sz="1050">
              <a:solidFill>
                <a:srgbClr val="AEB8C7"/>
              </a:solidFill>
              <a:latin typeface="Aptos" panose="020B0004020202020204" pitchFamily="34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8111977-6A24-48D6-F95F-662E1C39BF1A}"/>
              </a:ext>
            </a:extLst>
          </p:cNvPr>
          <p:cNvSpPr/>
          <p:nvPr/>
        </p:nvSpPr>
        <p:spPr>
          <a:xfrm>
            <a:off x="8204200" y="3987800"/>
            <a:ext cx="3429000" cy="15494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E95DF76-1A8A-F004-291C-BEC359BC2487}"/>
              </a:ext>
            </a:extLst>
          </p:cNvPr>
          <p:cNvSpPr/>
          <p:nvPr/>
        </p:nvSpPr>
        <p:spPr>
          <a:xfrm>
            <a:off x="8204200" y="3987800"/>
            <a:ext cx="63500" cy="1549400"/>
          </a:xfrm>
          <a:prstGeom prst="rect">
            <a:avLst/>
          </a:prstGeom>
          <a:solidFill>
            <a:srgbClr val="2DC26B"/>
          </a:solidFill>
          <a:ln w="12700">
            <a:solidFill>
              <a:srgbClr val="2DC2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CE0BB6-9D14-9362-1A15-171CE7B2007B}"/>
              </a:ext>
            </a:extLst>
          </p:cNvPr>
          <p:cNvSpPr txBox="1"/>
          <p:nvPr/>
        </p:nvSpPr>
        <p:spPr>
          <a:xfrm>
            <a:off x="8407400" y="4114800"/>
            <a:ext cx="30988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incremental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F87630-F66F-DA3D-FA7E-084CB2E70FA4}"/>
              </a:ext>
            </a:extLst>
          </p:cNvPr>
          <p:cNvSpPr txBox="1"/>
          <p:nvPr/>
        </p:nvSpPr>
        <p:spPr>
          <a:xfrm>
            <a:off x="8407400" y="4445000"/>
            <a:ext cx="3098800" cy="48474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AEB8C7"/>
                </a:solidFill>
                <a:latin typeface="Aptos" panose="020B0004020202020204" pitchFamily="34" charset="0"/>
              </a:rPr>
              <a:t>Strictly after watermark
2022-12-31 -&gt; 2023-03-21
Empty batch is a clean no-op</a:t>
            </a:r>
            <a:endParaRPr lang="en-GB" sz="1050">
              <a:solidFill>
                <a:srgbClr val="AEB8C7"/>
              </a:solidFill>
              <a:latin typeface="Aptos" panose="020B00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7F0854-EBAE-5A7E-AD78-9E1AE71DED15}"/>
              </a:ext>
            </a:extLst>
          </p:cNvPr>
          <p:cNvSpPr txBox="1"/>
          <p:nvPr/>
        </p:nvSpPr>
        <p:spPr>
          <a:xfrm>
            <a:off x="558800" y="5842000"/>
            <a:ext cx="110744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250" b="1">
                <a:solidFill>
                  <a:srgbClr val="F7F8FA"/>
                </a:solidFill>
                <a:latin typeface="Aptos" panose="020B0004020202020204" pitchFamily="34" charset="0"/>
              </a:rPr>
              <a:t>Hard failures stop before writes | warnings remain visible | ON CONFLICT DO NOTHING enforces idempotency</a:t>
            </a:r>
            <a:endParaRPr lang="en-GB" sz="1250" b="1">
              <a:solidFill>
                <a:srgbClr val="F7F8F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035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A6CD80-84BF-AD5F-0624-68C00D04F3A5}"/>
              </a:ext>
            </a:extLst>
          </p:cNvPr>
          <p:cNvSpPr txBox="1"/>
          <p:nvPr/>
        </p:nvSpPr>
        <p:spPr>
          <a:xfrm>
            <a:off x="558800" y="279400"/>
            <a:ext cx="10922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950" b="1">
                <a:solidFill>
                  <a:srgbClr val="FF4B4B"/>
                </a:solidFill>
                <a:latin typeface="Aptos" panose="020B0004020202020204" pitchFamily="34" charset="0"/>
              </a:rPr>
              <a:t>05 | AIRFLOW ORCHESTRATION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DB1FE-F5B4-8DB9-AE44-9E53CC9ADE2B}"/>
              </a:ext>
            </a:extLst>
          </p:cNvPr>
          <p:cNvSpPr txBox="1"/>
          <p:nvPr/>
        </p:nvSpPr>
        <p:spPr>
          <a:xfrm>
            <a:off x="558800" y="5842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700" b="1">
                <a:solidFill>
                  <a:srgbClr val="F7F8FA"/>
                </a:solidFill>
                <a:latin typeface="Aptos Display" panose="020B0004020202020204" pitchFamily="34" charset="0"/>
              </a:rPr>
              <a:t>The DAG ran both paths successfully</a:t>
            </a:r>
            <a:endParaRPr lang="en-GB" sz="2700" b="1">
              <a:solidFill>
                <a:srgbClr val="F7F8FA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933847-FEF8-E81D-18A3-541ACA25F417}"/>
              </a:ext>
            </a:extLst>
          </p:cNvPr>
          <p:cNvSpPr/>
          <p:nvPr/>
        </p:nvSpPr>
        <p:spPr>
          <a:xfrm>
            <a:off x="558800" y="1219200"/>
            <a:ext cx="914400" cy="381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1AE56-73CA-1700-1219-20FE815B528D}"/>
              </a:ext>
            </a:extLst>
          </p:cNvPr>
          <p:cNvSpPr txBox="1"/>
          <p:nvPr/>
        </p:nvSpPr>
        <p:spPr>
          <a:xfrm>
            <a:off x="558800" y="6527800"/>
            <a:ext cx="7620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850">
                <a:solidFill>
                  <a:srgbClr val="AEB8C7"/>
                </a:solidFill>
                <a:latin typeface="Aptos" panose="020B0004020202020204" pitchFamily="34" charset="0"/>
              </a:rPr>
              <a:t>Sephora Reviews Analytics Pipeline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EEB3B1-12A8-58E9-19E1-DADC8D4CFF62}"/>
              </a:ext>
            </a:extLst>
          </p:cNvPr>
          <p:cNvSpPr txBox="1"/>
          <p:nvPr/>
        </p:nvSpPr>
        <p:spPr>
          <a:xfrm>
            <a:off x="11430000" y="6527800"/>
            <a:ext cx="254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850" b="1">
                <a:solidFill>
                  <a:srgbClr val="AEB8C7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F2DB6B-4DD7-773C-22D1-C53605480EA6}"/>
              </a:ext>
            </a:extLst>
          </p:cNvPr>
          <p:cNvSpPr txBox="1"/>
          <p:nvPr/>
        </p:nvSpPr>
        <p:spPr>
          <a:xfrm>
            <a:off x="558800" y="1384300"/>
            <a:ext cx="110744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50">
                <a:solidFill>
                  <a:srgbClr val="AEB8C7"/>
                </a:solidFill>
                <a:latin typeface="Aptos" panose="020B0004020202020204" pitchFamily="34" charset="0"/>
              </a:rPr>
              <a:t>Controlled verification on 12 Aug 2026 | 16 tasks | 15 success + the intentionally skipped one_failed watcher</a:t>
            </a:r>
            <a:endParaRPr lang="en-GB" sz="1250">
              <a:solidFill>
                <a:srgbClr val="AEB8C7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928929-33CB-669A-A90E-DF7E82D4ACEA}"/>
              </a:ext>
            </a:extLst>
          </p:cNvPr>
          <p:cNvSpPr/>
          <p:nvPr/>
        </p:nvSpPr>
        <p:spPr>
          <a:xfrm>
            <a:off x="558800" y="1917700"/>
            <a:ext cx="5321300" cy="36068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0F50AD-C50E-7FC9-03E0-AF5EEE8C04F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98" y="1917700"/>
            <a:ext cx="4616704" cy="36068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754EA10-7755-7DF7-4A26-6EB40FA5400F}"/>
              </a:ext>
            </a:extLst>
          </p:cNvPr>
          <p:cNvSpPr/>
          <p:nvPr/>
        </p:nvSpPr>
        <p:spPr>
          <a:xfrm>
            <a:off x="6311900" y="1917700"/>
            <a:ext cx="5321300" cy="36068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181DC2-4288-9E6F-6EFF-1382233D072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198" y="1917700"/>
            <a:ext cx="4616704" cy="3606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E67BC5F-7400-DCE5-1084-C914481A3979}"/>
              </a:ext>
            </a:extLst>
          </p:cNvPr>
          <p:cNvSpPr txBox="1"/>
          <p:nvPr/>
        </p:nvSpPr>
        <p:spPr>
          <a:xfrm>
            <a:off x="558800" y="5613400"/>
            <a:ext cx="53213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200" b="1">
                <a:solidFill>
                  <a:srgbClr val="FFD166"/>
                </a:solidFill>
                <a:latin typeface="Aptos" panose="020B0004020202020204" pitchFamily="34" charset="0"/>
              </a:rPr>
              <a:t>Historical re-offer | SUCCESS | 164 seconds</a:t>
            </a:r>
            <a:endParaRPr lang="en-GB" sz="1200" b="1">
              <a:solidFill>
                <a:srgbClr val="FFD166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188E4F-E654-214A-A503-65ACA5393CBC}"/>
              </a:ext>
            </a:extLst>
          </p:cNvPr>
          <p:cNvSpPr txBox="1"/>
          <p:nvPr/>
        </p:nvSpPr>
        <p:spPr>
          <a:xfrm>
            <a:off x="6311900" y="5613400"/>
            <a:ext cx="53213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200" b="1">
                <a:solidFill>
                  <a:srgbClr val="2DC26B"/>
                </a:solidFill>
                <a:latin typeface="Aptos" panose="020B0004020202020204" pitchFamily="34" charset="0"/>
              </a:rPr>
              <a:t>Incremental restore | SUCCESS | 27 seconds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DA1E1C-EA2B-DAFB-EEFF-886CC51C4A2D}"/>
              </a:ext>
            </a:extLst>
          </p:cNvPr>
          <p:cNvSpPr txBox="1"/>
          <p:nvPr/>
        </p:nvSpPr>
        <p:spPr>
          <a:xfrm>
            <a:off x="558800" y="6045200"/>
            <a:ext cx="11074400" cy="17697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150" b="1">
                <a:solidFill>
                  <a:srgbClr val="F7F8FA"/>
                </a:solidFill>
                <a:latin typeface="Aptos" panose="020B0004020202020204" pitchFamily="34" charset="0"/>
              </a:rPr>
              <a:t>Deleted only the verified 2023 fact slice -&gt; restored all 49,503 rows -&gt; watermark returned to 2023-03-21.</a:t>
            </a:r>
            <a:endParaRPr lang="en-GB" sz="1150" b="1">
              <a:solidFill>
                <a:srgbClr val="F7F8F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385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A5ADCA-99FD-AE3D-CEFD-14CB48F1E7E3}"/>
              </a:ext>
            </a:extLst>
          </p:cNvPr>
          <p:cNvSpPr txBox="1"/>
          <p:nvPr/>
        </p:nvSpPr>
        <p:spPr>
          <a:xfrm>
            <a:off x="558800" y="279400"/>
            <a:ext cx="10922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950" b="1">
                <a:solidFill>
                  <a:srgbClr val="FF4B4B"/>
                </a:solidFill>
                <a:latin typeface="Aptos" panose="020B0004020202020204" pitchFamily="34" charset="0"/>
              </a:rPr>
              <a:t>06 | ANALYTICS AND STREAMLIT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37A42-B5BC-4D1E-8393-3F3D39E25982}"/>
              </a:ext>
            </a:extLst>
          </p:cNvPr>
          <p:cNvSpPr txBox="1"/>
          <p:nvPr/>
        </p:nvSpPr>
        <p:spPr>
          <a:xfrm>
            <a:off x="558800" y="5842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700" b="1">
                <a:solidFill>
                  <a:srgbClr val="F7F8FA"/>
                </a:solidFill>
                <a:latin typeface="Aptos Display" panose="020B0004020202020204" pitchFamily="34" charset="0"/>
              </a:rPr>
              <a:t>The dashboard leads with decisions, not decoration</a:t>
            </a:r>
            <a:endParaRPr lang="en-GB" sz="2700" b="1">
              <a:solidFill>
                <a:srgbClr val="F7F8FA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9201BF-4BD5-1BBA-83B1-62A3C19BE72E}"/>
              </a:ext>
            </a:extLst>
          </p:cNvPr>
          <p:cNvSpPr/>
          <p:nvPr/>
        </p:nvSpPr>
        <p:spPr>
          <a:xfrm>
            <a:off x="558800" y="1219200"/>
            <a:ext cx="914400" cy="381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73E511-35A1-7DA4-2CC4-D94D6CB8E372}"/>
              </a:ext>
            </a:extLst>
          </p:cNvPr>
          <p:cNvSpPr txBox="1"/>
          <p:nvPr/>
        </p:nvSpPr>
        <p:spPr>
          <a:xfrm>
            <a:off x="558800" y="6527800"/>
            <a:ext cx="7620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850">
                <a:solidFill>
                  <a:srgbClr val="AEB8C7"/>
                </a:solidFill>
                <a:latin typeface="Aptos" panose="020B0004020202020204" pitchFamily="34" charset="0"/>
              </a:rPr>
              <a:t>Sephora Reviews Analytics Pipeline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2599AD-7350-62DF-2735-2A209717CECD}"/>
              </a:ext>
            </a:extLst>
          </p:cNvPr>
          <p:cNvSpPr txBox="1"/>
          <p:nvPr/>
        </p:nvSpPr>
        <p:spPr>
          <a:xfrm>
            <a:off x="11430000" y="6527800"/>
            <a:ext cx="254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850" b="1">
                <a:solidFill>
                  <a:srgbClr val="AEB8C7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F3528A-0451-CACE-1EE5-6211EE01889B}"/>
              </a:ext>
            </a:extLst>
          </p:cNvPr>
          <p:cNvSpPr/>
          <p:nvPr/>
        </p:nvSpPr>
        <p:spPr>
          <a:xfrm>
            <a:off x="558800" y="1524000"/>
            <a:ext cx="6477000" cy="44450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0C7911-0AB3-CE73-064F-8C88AEF54A5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721" y="1524000"/>
            <a:ext cx="3743158" cy="444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86BBDA-EBA2-2518-54FA-E3D6A0285C44}"/>
              </a:ext>
            </a:extLst>
          </p:cNvPr>
          <p:cNvSpPr txBox="1"/>
          <p:nvPr/>
        </p:nvSpPr>
        <p:spPr>
          <a:xfrm>
            <a:off x="7416800" y="1498600"/>
            <a:ext cx="41656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500" b="1">
                <a:solidFill>
                  <a:srgbClr val="F7F8FA"/>
                </a:solidFill>
                <a:latin typeface="Aptos" panose="020B0004020202020204" pitchFamily="34" charset="0"/>
              </a:rPr>
              <a:t>Price vs satisfaction: an inverted U</a:t>
            </a:r>
            <a:endParaRPr lang="en-GB" sz="1500" b="1">
              <a:solidFill>
                <a:srgbClr val="F7F8FA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0CB97F-1F4F-C65C-523A-19DA4394FCEE}"/>
              </a:ext>
            </a:extLst>
          </p:cNvPr>
          <p:cNvSpPr txBox="1"/>
          <p:nvPr/>
        </p:nvSpPr>
        <p:spPr>
          <a:xfrm>
            <a:off x="7416800" y="2070100"/>
            <a:ext cx="1168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00">
                <a:solidFill>
                  <a:srgbClr val="AEB8C7"/>
                </a:solidFill>
                <a:latin typeface="Aptos" panose="020B0004020202020204" pitchFamily="34" charset="0"/>
              </a:rPr>
              <a:t>Under $15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469F92-F3ED-522D-7293-35A5E8A49499}"/>
              </a:ext>
            </a:extLst>
          </p:cNvPr>
          <p:cNvSpPr/>
          <p:nvPr/>
        </p:nvSpPr>
        <p:spPr>
          <a:xfrm>
            <a:off x="8585200" y="2108200"/>
            <a:ext cx="2159000" cy="139700"/>
          </a:xfrm>
          <a:prstGeom prst="roundRect">
            <a:avLst/>
          </a:prstGeom>
          <a:solidFill>
            <a:srgbClr val="242A39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9F6634B-19A1-2D55-0E52-4401E24CA835}"/>
              </a:ext>
            </a:extLst>
          </p:cNvPr>
          <p:cNvSpPr/>
          <p:nvPr/>
        </p:nvSpPr>
        <p:spPr>
          <a:xfrm>
            <a:off x="8585200" y="2108200"/>
            <a:ext cx="546100" cy="139700"/>
          </a:xfrm>
          <a:prstGeom prst="roundRect">
            <a:avLst/>
          </a:prstGeom>
          <a:solidFill>
            <a:srgbClr val="5FC3FF"/>
          </a:solidFill>
          <a:ln w="12700">
            <a:solidFill>
              <a:srgbClr val="5F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E5A3FF-3EBA-6A87-3A49-D41C1681613E}"/>
              </a:ext>
            </a:extLst>
          </p:cNvPr>
          <p:cNvSpPr txBox="1"/>
          <p:nvPr/>
        </p:nvSpPr>
        <p:spPr>
          <a:xfrm>
            <a:off x="10820400" y="2057400"/>
            <a:ext cx="609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F7F8FA"/>
                </a:solidFill>
                <a:latin typeface="Aptos" panose="020B0004020202020204" pitchFamily="34" charset="0"/>
              </a:rPr>
              <a:t>4.238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6B995F-94AB-32A6-3EF6-C7D0869E3B01}"/>
              </a:ext>
            </a:extLst>
          </p:cNvPr>
          <p:cNvSpPr txBox="1"/>
          <p:nvPr/>
        </p:nvSpPr>
        <p:spPr>
          <a:xfrm>
            <a:off x="7416800" y="2476500"/>
            <a:ext cx="1168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00">
                <a:solidFill>
                  <a:srgbClr val="AEB8C7"/>
                </a:solidFill>
                <a:latin typeface="Aptos" panose="020B0004020202020204" pitchFamily="34" charset="0"/>
              </a:rPr>
              <a:t>$15-30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03981FF-0A88-21EF-2F88-C8A86B511C98}"/>
              </a:ext>
            </a:extLst>
          </p:cNvPr>
          <p:cNvSpPr/>
          <p:nvPr/>
        </p:nvSpPr>
        <p:spPr>
          <a:xfrm>
            <a:off x="8585200" y="2514600"/>
            <a:ext cx="2159000" cy="139700"/>
          </a:xfrm>
          <a:prstGeom prst="roundRect">
            <a:avLst/>
          </a:prstGeom>
          <a:solidFill>
            <a:srgbClr val="242A39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3FCF207-0E67-C53D-45CF-E72D41A1DE1E}"/>
              </a:ext>
            </a:extLst>
          </p:cNvPr>
          <p:cNvSpPr/>
          <p:nvPr/>
        </p:nvSpPr>
        <p:spPr>
          <a:xfrm>
            <a:off x="8585200" y="2514600"/>
            <a:ext cx="1092200" cy="139700"/>
          </a:xfrm>
          <a:prstGeom prst="roundRect">
            <a:avLst/>
          </a:prstGeom>
          <a:solidFill>
            <a:srgbClr val="5FC3FF"/>
          </a:solidFill>
          <a:ln w="12700">
            <a:solidFill>
              <a:srgbClr val="5F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41AB83-A073-9F5A-A49E-2F8713F873A0}"/>
              </a:ext>
            </a:extLst>
          </p:cNvPr>
          <p:cNvSpPr txBox="1"/>
          <p:nvPr/>
        </p:nvSpPr>
        <p:spPr>
          <a:xfrm>
            <a:off x="10820400" y="2463800"/>
            <a:ext cx="609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F7F8FA"/>
                </a:solidFill>
                <a:latin typeface="Aptos" panose="020B0004020202020204" pitchFamily="34" charset="0"/>
              </a:rPr>
              <a:t>4.276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60C93E-FB8D-1948-5A91-CB0A92AB7390}"/>
              </a:ext>
            </a:extLst>
          </p:cNvPr>
          <p:cNvSpPr txBox="1"/>
          <p:nvPr/>
        </p:nvSpPr>
        <p:spPr>
          <a:xfrm>
            <a:off x="7416800" y="2882900"/>
            <a:ext cx="1168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00">
                <a:solidFill>
                  <a:srgbClr val="AEB8C7"/>
                </a:solidFill>
                <a:latin typeface="Aptos" panose="020B0004020202020204" pitchFamily="34" charset="0"/>
              </a:rPr>
              <a:t>$30-50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1AECD1A-1F1F-28E0-609B-FDAC2DFE6A8D}"/>
              </a:ext>
            </a:extLst>
          </p:cNvPr>
          <p:cNvSpPr/>
          <p:nvPr/>
        </p:nvSpPr>
        <p:spPr>
          <a:xfrm>
            <a:off x="8585200" y="2921000"/>
            <a:ext cx="2159000" cy="139700"/>
          </a:xfrm>
          <a:prstGeom prst="roundRect">
            <a:avLst/>
          </a:prstGeom>
          <a:solidFill>
            <a:srgbClr val="242A39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FA919C6-0911-CDD7-01EF-D157273CDBAF}"/>
              </a:ext>
            </a:extLst>
          </p:cNvPr>
          <p:cNvSpPr/>
          <p:nvPr/>
        </p:nvSpPr>
        <p:spPr>
          <a:xfrm>
            <a:off x="8585200" y="2921000"/>
            <a:ext cx="1524000" cy="139700"/>
          </a:xfrm>
          <a:prstGeom prst="roundRect">
            <a:avLst/>
          </a:prstGeom>
          <a:solidFill>
            <a:srgbClr val="5FC3FF"/>
          </a:solidFill>
          <a:ln w="12700">
            <a:solidFill>
              <a:srgbClr val="5F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C9CC14-4185-C39B-4C80-019880843259}"/>
              </a:ext>
            </a:extLst>
          </p:cNvPr>
          <p:cNvSpPr txBox="1"/>
          <p:nvPr/>
        </p:nvSpPr>
        <p:spPr>
          <a:xfrm>
            <a:off x="10820400" y="2870200"/>
            <a:ext cx="609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F7F8FA"/>
                </a:solidFill>
                <a:latin typeface="Aptos" panose="020B0004020202020204" pitchFamily="34" charset="0"/>
              </a:rPr>
              <a:t>4.306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4363AC-99EB-2FE7-BE29-B80E9F0A40E7}"/>
              </a:ext>
            </a:extLst>
          </p:cNvPr>
          <p:cNvSpPr txBox="1"/>
          <p:nvPr/>
        </p:nvSpPr>
        <p:spPr>
          <a:xfrm>
            <a:off x="7416800" y="3289300"/>
            <a:ext cx="1168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00">
                <a:solidFill>
                  <a:srgbClr val="AEB8C7"/>
                </a:solidFill>
                <a:latin typeface="Aptos" panose="020B0004020202020204" pitchFamily="34" charset="0"/>
              </a:rPr>
              <a:t>$50-100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6542ADD-DBBB-6D85-26A5-81C3D63F4872}"/>
              </a:ext>
            </a:extLst>
          </p:cNvPr>
          <p:cNvSpPr/>
          <p:nvPr/>
        </p:nvSpPr>
        <p:spPr>
          <a:xfrm>
            <a:off x="8585200" y="3327400"/>
            <a:ext cx="2159000" cy="139700"/>
          </a:xfrm>
          <a:prstGeom prst="roundRect">
            <a:avLst/>
          </a:prstGeom>
          <a:solidFill>
            <a:srgbClr val="242A39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21D910A-424A-B132-9BEB-31B4DB9062E6}"/>
              </a:ext>
            </a:extLst>
          </p:cNvPr>
          <p:cNvSpPr/>
          <p:nvPr/>
        </p:nvSpPr>
        <p:spPr>
          <a:xfrm>
            <a:off x="8585200" y="3327400"/>
            <a:ext cx="1930400" cy="139700"/>
          </a:xfrm>
          <a:prstGeom prst="roundRect">
            <a:avLst/>
          </a:prstGeom>
          <a:solidFill>
            <a:srgbClr val="FF4B4B"/>
          </a:solidFill>
          <a:ln w="12700">
            <a:solidFill>
              <a:srgbClr val="FF4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C8382E-5D62-6683-294B-1764BD62551A}"/>
              </a:ext>
            </a:extLst>
          </p:cNvPr>
          <p:cNvSpPr txBox="1"/>
          <p:nvPr/>
        </p:nvSpPr>
        <p:spPr>
          <a:xfrm>
            <a:off x="10820400" y="3276600"/>
            <a:ext cx="609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F7F8FA"/>
                </a:solidFill>
                <a:latin typeface="Aptos" panose="020B0004020202020204" pitchFamily="34" charset="0"/>
              </a:rPr>
              <a:t>4.334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4FB67D-3F19-7EA6-956C-FE939F13DA7A}"/>
              </a:ext>
            </a:extLst>
          </p:cNvPr>
          <p:cNvSpPr txBox="1"/>
          <p:nvPr/>
        </p:nvSpPr>
        <p:spPr>
          <a:xfrm>
            <a:off x="7416800" y="3695700"/>
            <a:ext cx="1168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00">
                <a:solidFill>
                  <a:srgbClr val="AEB8C7"/>
                </a:solidFill>
                <a:latin typeface="Aptos" panose="020B0004020202020204" pitchFamily="34" charset="0"/>
              </a:rPr>
              <a:t>$100+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6490ACF-FA19-8899-8EE1-ED332D21C95D}"/>
              </a:ext>
            </a:extLst>
          </p:cNvPr>
          <p:cNvSpPr/>
          <p:nvPr/>
        </p:nvSpPr>
        <p:spPr>
          <a:xfrm>
            <a:off x="8585200" y="3733800"/>
            <a:ext cx="2159000" cy="139700"/>
          </a:xfrm>
          <a:prstGeom prst="roundRect">
            <a:avLst/>
          </a:prstGeom>
          <a:solidFill>
            <a:srgbClr val="242A39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8B34892-6EBF-17E0-4B5A-F18D3DC8F5B2}"/>
              </a:ext>
            </a:extLst>
          </p:cNvPr>
          <p:cNvSpPr/>
          <p:nvPr/>
        </p:nvSpPr>
        <p:spPr>
          <a:xfrm>
            <a:off x="8585200" y="3733800"/>
            <a:ext cx="1016000" cy="139700"/>
          </a:xfrm>
          <a:prstGeom prst="roundRect">
            <a:avLst/>
          </a:prstGeom>
          <a:solidFill>
            <a:srgbClr val="5FC3FF"/>
          </a:solidFill>
          <a:ln w="12700">
            <a:solidFill>
              <a:srgbClr val="5F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AEB763-05AF-6FA6-107E-B8FBEE7D43E9}"/>
              </a:ext>
            </a:extLst>
          </p:cNvPr>
          <p:cNvSpPr txBox="1"/>
          <p:nvPr/>
        </p:nvSpPr>
        <p:spPr>
          <a:xfrm>
            <a:off x="10820400" y="3683000"/>
            <a:ext cx="609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F7F8FA"/>
                </a:solidFill>
                <a:latin typeface="Aptos" panose="020B0004020202020204" pitchFamily="34" charset="0"/>
              </a:rPr>
              <a:t>4.271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648E92-327A-1273-ACE2-78FF4D615828}"/>
              </a:ext>
            </a:extLst>
          </p:cNvPr>
          <p:cNvSpPr txBox="1"/>
          <p:nvPr/>
        </p:nvSpPr>
        <p:spPr>
          <a:xfrm>
            <a:off x="7416800" y="4241800"/>
            <a:ext cx="42164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50" b="1">
                <a:solidFill>
                  <a:srgbClr val="F7F8FA"/>
                </a:solidFill>
                <a:latin typeface="Aptos" panose="020B0004020202020204" pitchFamily="34" charset="0"/>
              </a:rPr>
              <a:t>Ratings peak at $50-100, then fall back above $100. Variation narrows as price rises.</a:t>
            </a:r>
            <a:endParaRPr lang="en-GB" sz="1150" b="1">
              <a:solidFill>
                <a:srgbClr val="F7F8FA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405BAD-CB96-3B5F-EF39-7650B8FC3595}"/>
              </a:ext>
            </a:extLst>
          </p:cNvPr>
          <p:cNvSpPr txBox="1"/>
          <p:nvPr/>
        </p:nvSpPr>
        <p:spPr>
          <a:xfrm>
            <a:off x="7416800" y="5041900"/>
            <a:ext cx="4216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AEB8C7"/>
                </a:solidFill>
                <a:latin typeface="Aptos" panose="020B0004020202020204" pitchFamily="34" charset="0"/>
              </a:rPr>
              <a:t>- Hype separates wishlist intention from satisfaction
- March 2023 is labelled partial
- Skin-profile effects are real but weak
- Every slider binds into SQL</a:t>
            </a:r>
            <a:endParaRPr lang="en-GB" sz="1050">
              <a:solidFill>
                <a:srgbClr val="AEB8C7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1D1053-A1A6-B268-5FEC-8B1AF94E1E3C}"/>
              </a:ext>
            </a:extLst>
          </p:cNvPr>
          <p:cNvSpPr txBox="1"/>
          <p:nvPr/>
        </p:nvSpPr>
        <p:spPr>
          <a:xfrm>
            <a:off x="558800" y="6096000"/>
            <a:ext cx="11074400" cy="17697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150" b="1">
                <a:solidFill>
                  <a:srgbClr val="F7F8FA"/>
                </a:solidFill>
                <a:latin typeface="Aptos" panose="020B0004020202020204" pitchFamily="34" charset="0"/>
              </a:rPr>
              <a:t>Default page: summary first. Deep dive: hype, price, reviewer profile, and review-length polarisation.</a:t>
            </a:r>
            <a:endParaRPr lang="en-GB" sz="1150" b="1">
              <a:solidFill>
                <a:srgbClr val="F7F8F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687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90BDD0-1B94-E7E8-DFF8-B89604387479}"/>
              </a:ext>
            </a:extLst>
          </p:cNvPr>
          <p:cNvSpPr txBox="1"/>
          <p:nvPr/>
        </p:nvSpPr>
        <p:spPr>
          <a:xfrm>
            <a:off x="558800" y="279400"/>
            <a:ext cx="10922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FF4B4B"/>
                </a:solidFill>
                <a:latin typeface="Aptos" panose="020B0004020202020204" pitchFamily="34" charset="0"/>
              </a:rPr>
              <a:t>07 | CLOSE AND LIVE DEMO</a:t>
            </a:r>
            <a:endParaRPr lang="en-GB" sz="950" b="1">
              <a:solidFill>
                <a:srgbClr val="FF4B4B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6C8848-D3E5-47DB-657B-E5DC1FE9109E}"/>
              </a:ext>
            </a:extLst>
          </p:cNvPr>
          <p:cNvSpPr txBox="1"/>
          <p:nvPr/>
        </p:nvSpPr>
        <p:spPr>
          <a:xfrm>
            <a:off x="558800" y="584200"/>
            <a:ext cx="11112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700" b="1">
                <a:solidFill>
                  <a:srgbClr val="F7F8FA"/>
                </a:solidFill>
                <a:latin typeface="Aptos Display" panose="020B0004020202020204" pitchFamily="34" charset="0"/>
              </a:rPr>
              <a:t>A complete, reproducible capstone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2D4521-7080-F498-DC40-DEFA2DCE0C6F}"/>
              </a:ext>
            </a:extLst>
          </p:cNvPr>
          <p:cNvSpPr/>
          <p:nvPr/>
        </p:nvSpPr>
        <p:spPr>
          <a:xfrm>
            <a:off x="558800" y="1219200"/>
            <a:ext cx="914400" cy="381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577F06-4C71-CAEB-95F8-D52AE69C77C5}"/>
              </a:ext>
            </a:extLst>
          </p:cNvPr>
          <p:cNvSpPr txBox="1"/>
          <p:nvPr/>
        </p:nvSpPr>
        <p:spPr>
          <a:xfrm>
            <a:off x="558800" y="6527800"/>
            <a:ext cx="7620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850">
                <a:solidFill>
                  <a:srgbClr val="AEB8C7"/>
                </a:solidFill>
                <a:latin typeface="Aptos" panose="020B0004020202020204" pitchFamily="34" charset="0"/>
              </a:rPr>
              <a:t>Sephora Reviews Analytics Pipeline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A45FB4-E7CC-38B0-6BE2-3FD75B7626ED}"/>
              </a:ext>
            </a:extLst>
          </p:cNvPr>
          <p:cNvSpPr txBox="1"/>
          <p:nvPr/>
        </p:nvSpPr>
        <p:spPr>
          <a:xfrm>
            <a:off x="11430000" y="6527800"/>
            <a:ext cx="254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850" b="1">
                <a:solidFill>
                  <a:srgbClr val="AEB8C7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F63FA8-530F-EF8A-5E7C-A76B99FE0747}"/>
              </a:ext>
            </a:extLst>
          </p:cNvPr>
          <p:cNvSpPr txBox="1"/>
          <p:nvPr/>
        </p:nvSpPr>
        <p:spPr>
          <a:xfrm>
            <a:off x="558800" y="1422400"/>
            <a:ext cx="11074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AEB8C7"/>
                </a:solidFill>
                <a:latin typeface="Aptos" panose="020B0004020202020204" pitchFamily="34" charset="0"/>
              </a:rPr>
              <a:t>The final state is measured, source-backed, and runnable from an empty Docker environment.</a:t>
            </a:r>
            <a:endParaRPr lang="en-GB" sz="1300">
              <a:solidFill>
                <a:srgbClr val="AEB8C7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4661B23-CCDE-7353-D824-1BC45ED8924C}"/>
              </a:ext>
            </a:extLst>
          </p:cNvPr>
          <p:cNvSpPr/>
          <p:nvPr/>
        </p:nvSpPr>
        <p:spPr>
          <a:xfrm>
            <a:off x="558800" y="2108200"/>
            <a:ext cx="2489200" cy="9906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F2C238-5194-D0D0-C63D-0E6069BD25E2}"/>
              </a:ext>
            </a:extLst>
          </p:cNvPr>
          <p:cNvSpPr txBox="1"/>
          <p:nvPr/>
        </p:nvSpPr>
        <p:spPr>
          <a:xfrm>
            <a:off x="711200" y="2189034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GB" sz="2400" b="1">
                <a:solidFill>
                  <a:srgbClr val="FF4B4B"/>
                </a:solidFill>
                <a:latin typeface="Aptos Display" panose="020B0004020202020204" pitchFamily="34" charset="0"/>
              </a:rPr>
              <a:t>1,093,371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2238F4-7B86-2F10-2736-A15686658C26}"/>
              </a:ext>
            </a:extLst>
          </p:cNvPr>
          <p:cNvSpPr txBox="1"/>
          <p:nvPr/>
        </p:nvSpPr>
        <p:spPr>
          <a:xfrm>
            <a:off x="660400" y="27305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000">
                <a:solidFill>
                  <a:srgbClr val="AEB8C7"/>
                </a:solidFill>
                <a:latin typeface="Aptos" panose="020B0004020202020204" pitchFamily="34" charset="0"/>
              </a:rPr>
              <a:t>facts = staging rows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754EE34-957D-2FD5-85CB-1D399ED116CC}"/>
              </a:ext>
            </a:extLst>
          </p:cNvPr>
          <p:cNvSpPr/>
          <p:nvPr/>
        </p:nvSpPr>
        <p:spPr>
          <a:xfrm>
            <a:off x="3225800" y="2108200"/>
            <a:ext cx="2489200" cy="9906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DAF8BE-23CF-6B99-6CF9-7EC9B0C9B023}"/>
              </a:ext>
            </a:extLst>
          </p:cNvPr>
          <p:cNvSpPr txBox="1"/>
          <p:nvPr/>
        </p:nvSpPr>
        <p:spPr>
          <a:xfrm>
            <a:off x="3378200" y="2189034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GB" sz="2400" b="1">
                <a:solidFill>
                  <a:srgbClr val="2DC26B"/>
                </a:solidFill>
                <a:latin typeface="Aptos Display" panose="020B0004020202020204" pitchFamily="34" charset="0"/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FBF2C6-DF21-DEF8-89F2-DF5B38B66573}"/>
              </a:ext>
            </a:extLst>
          </p:cNvPr>
          <p:cNvSpPr txBox="1"/>
          <p:nvPr/>
        </p:nvSpPr>
        <p:spPr>
          <a:xfrm>
            <a:off x="3327400" y="27305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000">
                <a:solidFill>
                  <a:srgbClr val="AEB8C7"/>
                </a:solidFill>
                <a:latin typeface="Aptos" panose="020B0004020202020204" pitchFamily="34" charset="0"/>
              </a:rPr>
              <a:t>orphan fact keys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A868002-06BE-2AC8-7461-694CB920BE63}"/>
              </a:ext>
            </a:extLst>
          </p:cNvPr>
          <p:cNvSpPr/>
          <p:nvPr/>
        </p:nvSpPr>
        <p:spPr>
          <a:xfrm>
            <a:off x="5892800" y="2108200"/>
            <a:ext cx="2489200" cy="9906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B9538B-B200-D723-39EE-9ED78B084840}"/>
              </a:ext>
            </a:extLst>
          </p:cNvPr>
          <p:cNvSpPr txBox="1"/>
          <p:nvPr/>
        </p:nvSpPr>
        <p:spPr>
          <a:xfrm>
            <a:off x="6045200" y="2189034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GB" sz="2400" b="1">
                <a:solidFill>
                  <a:srgbClr val="2DC26B"/>
                </a:solidFill>
                <a:latin typeface="Aptos Display" panose="020B0004020202020204" pitchFamily="34" charset="0"/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ACB0B0-6040-78FF-3EDF-3D73BD4C65BC}"/>
              </a:ext>
            </a:extLst>
          </p:cNvPr>
          <p:cNvSpPr txBox="1"/>
          <p:nvPr/>
        </p:nvSpPr>
        <p:spPr>
          <a:xfrm>
            <a:off x="5994400" y="27305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000">
                <a:solidFill>
                  <a:srgbClr val="AEB8C7"/>
                </a:solidFill>
                <a:latin typeface="Aptos" panose="020B0004020202020204" pitchFamily="34" charset="0"/>
              </a:rPr>
              <a:t>duplicate fact keys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80988F2-E6F6-56BE-CA12-AFE176CB6365}"/>
              </a:ext>
            </a:extLst>
          </p:cNvPr>
          <p:cNvSpPr/>
          <p:nvPr/>
        </p:nvSpPr>
        <p:spPr>
          <a:xfrm>
            <a:off x="8559800" y="2108200"/>
            <a:ext cx="2489200" cy="9906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60A810-323B-3CE4-545A-76318210550E}"/>
              </a:ext>
            </a:extLst>
          </p:cNvPr>
          <p:cNvSpPr txBox="1"/>
          <p:nvPr/>
        </p:nvSpPr>
        <p:spPr>
          <a:xfrm>
            <a:off x="8712200" y="2189034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GB" sz="2400" b="1">
                <a:solidFill>
                  <a:srgbClr val="5FC3FF"/>
                </a:solidFill>
                <a:latin typeface="Aptos Display" panose="020B0004020202020204" pitchFamily="34" charset="0"/>
              </a:rPr>
              <a:t>51 + 11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897083-813F-9DE9-57D5-A8FDFBDF4431}"/>
              </a:ext>
            </a:extLst>
          </p:cNvPr>
          <p:cNvSpPr txBox="1"/>
          <p:nvPr/>
        </p:nvSpPr>
        <p:spPr>
          <a:xfrm>
            <a:off x="8661400" y="27305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000">
                <a:solidFill>
                  <a:srgbClr val="AEB8C7"/>
                </a:solidFill>
                <a:latin typeface="Aptos" panose="020B0004020202020204" pitchFamily="34" charset="0"/>
              </a:rPr>
              <a:t>host tests + DAG asserts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865A95F-FA9F-365C-CFFC-466E852C28E1}"/>
              </a:ext>
            </a:extLst>
          </p:cNvPr>
          <p:cNvSpPr/>
          <p:nvPr/>
        </p:nvSpPr>
        <p:spPr>
          <a:xfrm>
            <a:off x="558800" y="3644900"/>
            <a:ext cx="5207000" cy="19558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7268D5-9BFB-DE3E-E746-E3438AEC4512}"/>
              </a:ext>
            </a:extLst>
          </p:cNvPr>
          <p:cNvSpPr/>
          <p:nvPr/>
        </p:nvSpPr>
        <p:spPr>
          <a:xfrm>
            <a:off x="558800" y="3644900"/>
            <a:ext cx="63500" cy="19558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205F4F-51AD-BB0E-B6E5-164A181339EE}"/>
              </a:ext>
            </a:extLst>
          </p:cNvPr>
          <p:cNvSpPr txBox="1"/>
          <p:nvPr/>
        </p:nvSpPr>
        <p:spPr>
          <a:xfrm>
            <a:off x="762000" y="3771900"/>
            <a:ext cx="48768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 b="1">
                <a:solidFill>
                  <a:srgbClr val="F7F8FA"/>
                </a:solidFill>
                <a:latin typeface="Aptos" panose="020B0004020202020204" pitchFamily="34" charset="0"/>
              </a:rPr>
              <a:t>Live demo in four moves</a:t>
            </a:r>
            <a:endParaRPr lang="en-GB" sz="1300" b="1">
              <a:solidFill>
                <a:srgbClr val="F7F8FA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E43402-84FF-D7F0-849B-E844C653CA9C}"/>
              </a:ext>
            </a:extLst>
          </p:cNvPr>
          <p:cNvSpPr txBox="1"/>
          <p:nvPr/>
        </p:nvSpPr>
        <p:spPr>
          <a:xfrm>
            <a:off x="762000" y="4102100"/>
            <a:ext cx="4876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AEB8C7"/>
                </a:solidFill>
                <a:latin typeface="Aptos" panose="020B0004020202020204" pitchFamily="34" charset="0"/>
              </a:rPr>
              <a:t>1. Show the successful incremental run
2. Open the live Overview KPIs
3. Move one Deep dive SQL control
4. Reconcile views to fact_reviews</a:t>
            </a:r>
            <a:endParaRPr lang="en-GB" sz="1050">
              <a:solidFill>
                <a:srgbClr val="AEB8C7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4F498E6-5526-A124-2137-1976E7353927}"/>
              </a:ext>
            </a:extLst>
          </p:cNvPr>
          <p:cNvSpPr/>
          <p:nvPr/>
        </p:nvSpPr>
        <p:spPr>
          <a:xfrm>
            <a:off x="6426200" y="3644900"/>
            <a:ext cx="5207000" cy="1955800"/>
          </a:xfrm>
          <a:prstGeom prst="roundRect">
            <a:avLst/>
          </a:prstGeom>
          <a:solidFill>
            <a:srgbClr val="1B202C"/>
          </a:solidFill>
          <a:ln w="12700">
            <a:solidFill>
              <a:srgbClr val="242A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E25A86-5F2E-E828-BD64-B1FBB7E7DA1E}"/>
              </a:ext>
            </a:extLst>
          </p:cNvPr>
          <p:cNvSpPr/>
          <p:nvPr/>
        </p:nvSpPr>
        <p:spPr>
          <a:xfrm>
            <a:off x="6426200" y="3644900"/>
            <a:ext cx="63500" cy="1955800"/>
          </a:xfrm>
          <a:prstGeom prst="rect">
            <a:avLst/>
          </a:prstGeom>
          <a:solidFill>
            <a:srgbClr val="5FC3FF"/>
          </a:solidFill>
          <a:ln w="12700">
            <a:solidFill>
              <a:srgbClr val="5FC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2F396E-FBC4-5444-2277-A5F41B69A0F2}"/>
              </a:ext>
            </a:extLst>
          </p:cNvPr>
          <p:cNvSpPr txBox="1"/>
          <p:nvPr/>
        </p:nvSpPr>
        <p:spPr>
          <a:xfrm>
            <a:off x="6629400" y="3771900"/>
            <a:ext cx="48768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F7F8FA"/>
                </a:solidFill>
                <a:latin typeface="Aptos" panose="020B0004020202020204" pitchFamily="34" charset="0"/>
              </a:rPr>
              <a:t>Where to verify it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E9C81C-0704-B6DC-107E-B8FDE44E7F30}"/>
              </a:ext>
            </a:extLst>
          </p:cNvPr>
          <p:cNvSpPr txBox="1"/>
          <p:nvPr/>
        </p:nvSpPr>
        <p:spPr>
          <a:xfrm>
            <a:off x="6629400" y="4102100"/>
            <a:ext cx="4876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50">
                <a:solidFill>
                  <a:srgbClr val="AEB8C7"/>
                </a:solidFill>
                <a:latin typeface="Aptos" panose="020B0004020202020204" pitchFamily="34" charset="0"/>
              </a:rPr>
              <a:t>README.md - setup + diagrams
docs/ - decisions + evidence
dashboard/ - app + metric model
sql/validation/ - source-of-truth checks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E0247C-615A-7F15-7E93-5D05F75D150F}"/>
              </a:ext>
            </a:extLst>
          </p:cNvPr>
          <p:cNvSpPr txBox="1"/>
          <p:nvPr/>
        </p:nvSpPr>
        <p:spPr>
          <a:xfrm>
            <a:off x="558800" y="5887423"/>
            <a:ext cx="110744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GB" sz="2200" b="1">
                <a:solidFill>
                  <a:srgbClr val="F7F8FA"/>
                </a:solidFill>
                <a:latin typeface="Aptos Display" panose="020B0004020202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997745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1035</Words>
  <Application>Microsoft Office PowerPoint</Application>
  <PresentationFormat>Custom</PresentationFormat>
  <Paragraphs>160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Samikshya Baniya</dc:creator>
  <cp:lastModifiedBy>Samikshya Baniya</cp:lastModifiedBy>
  <cp:revision>1</cp:revision>
  <dcterms:created xsi:type="dcterms:W3CDTF">2026-08-12T13:53:05Z</dcterms:created>
  <dcterms:modified xsi:type="dcterms:W3CDTF">2026-08-12T13:53:05Z</dcterms:modified>
</cp:coreProperties>
</file>